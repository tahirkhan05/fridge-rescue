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4"/>
  </p:notesMasterIdLst>
  <p:sldIdLst>
    <p:sldId id="256" r:id="rId4"/>
    <p:sldId id="257" r:id="rId5"/>
    <p:sldId id="258" r:id="rId6"/>
    <p:sldId id="259" r:id="rId7"/>
    <p:sldId id="260" r:id="rId8"/>
    <p:sldId id="261" r:id="rId9"/>
    <p:sldId id="262" r:id="rId10"/>
    <p:sldId id="263" r:id="rId11"/>
    <p:sldId id="264" r:id="rId12"/>
    <p:sldId id="265" r:id="rId13"/>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notesMaster" Target="notesMasters/notesMaster1.xml"/><Relationship Id="rId15" Type="http://schemas.openxmlformats.org/officeDocument/2006/relationships/presProps" Target="presProps.xml" /><Relationship Id="rId16" Type="http://schemas.openxmlformats.org/officeDocument/2006/relationships/tableStyles" Target="tableStyles.xml" /><Relationship Id="rId1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8069659" name="Slide Image Placeholder 1"/>
          <p:cNvSpPr>
            <a:spLocks noGrp="1"/>
          </p:cNvSpPr>
          <p:nvPr>
            <p:ph type="sldImg" idx="2"/>
          </p:nvPr>
        </p:nvSpPr>
        <p:spPr bwMode="auto"/>
      </p:sp>
      <p:sp>
        <p:nvSpPr>
          <p:cNvPr id="1672395822" name="Notes Placeholder 2"/>
          <p:cNvSpPr>
            <a:spLocks noGrp="1"/>
          </p:cNvSpPr>
          <p:nvPr>
            <p:ph type="body" sz="quarter" idx="3"/>
          </p:nvPr>
        </p:nvSpPr>
        <p:spPr bwMode="auto"/>
        <p:txBody>
          <a:bodyPr/>
          <a:lstStyle/>
          <a:p>
            <a:pPr>
              <a:defRPr/>
            </a:pPr>
            <a:r>
              <a:rPr/>
              <a:t>Good morning evaluators. Today I am presenting Fridge Rescue, an applied AI system designed to solve household food waste directly at the point of origin: the domestic refrigerator. Aligned with UN Sustainable Development Goal 12.3, our platform bridges computer vision, optical character recognition, and an explainable decision engine into an immediate culinary rescue action.</a:t>
            </a:r>
            <a:endParaRPr/>
          </a:p>
        </p:txBody>
      </p:sp>
      <p:sp>
        <p:nvSpPr>
          <p:cNvPr id="1439311785"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1873886" name="Slide Image Placeholder 1"/>
          <p:cNvSpPr>
            <a:spLocks noGrp="1"/>
          </p:cNvSpPr>
          <p:nvPr>
            <p:ph type="sldImg" idx="2"/>
          </p:nvPr>
        </p:nvSpPr>
        <p:spPr bwMode="auto"/>
      </p:sp>
      <p:sp>
        <p:nvSpPr>
          <p:cNvPr id="1344974016" name="Notes Placeholder 2"/>
          <p:cNvSpPr>
            <a:spLocks noGrp="1"/>
          </p:cNvSpPr>
          <p:nvPr>
            <p:ph type="body" sz="quarter" idx="3"/>
          </p:nvPr>
        </p:nvSpPr>
        <p:spPr bwMode="auto"/>
        <p:txBody>
          <a:bodyPr/>
          <a:lstStyle/>
          <a:p>
            <a:pPr>
              <a:defRPr/>
            </a:pPr>
            <a:r>
              <a:rPr/>
              <a:t>Here is the human truth: consumers don't waste food because they want to; they waste food because refrigerators hide declining items, and existing apps demand tedious barcode typing that nobody has time for. The average household loses $1,200 to $1,800 annually on groceries that end up in landfills. We needed a solution that requires zero manual typing and directly tells the user what to cook tonight.</a:t>
            </a:r>
            <a:endParaRPr/>
          </a:p>
        </p:txBody>
      </p:sp>
      <p:sp>
        <p:nvSpPr>
          <p:cNvPr id="511236510"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4710893" name="Slide Image Placeholder 1"/>
          <p:cNvSpPr>
            <a:spLocks noGrp="1"/>
          </p:cNvSpPr>
          <p:nvPr>
            <p:ph type="sldImg" idx="2"/>
          </p:nvPr>
        </p:nvSpPr>
        <p:spPr bwMode="auto"/>
      </p:sp>
      <p:sp>
        <p:nvSpPr>
          <p:cNvPr id="1759862849" name="Notes Placeholder 2"/>
          <p:cNvSpPr>
            <a:spLocks noGrp="1"/>
          </p:cNvSpPr>
          <p:nvPr>
            <p:ph type="body" sz="quarter" idx="3"/>
          </p:nvPr>
        </p:nvSpPr>
        <p:spPr bwMode="auto"/>
        <p:txBody>
          <a:bodyPr/>
          <a:lstStyle/>
          <a:p>
            <a:pPr>
              <a:defRPr/>
            </a:pPr>
            <a:r>
              <a:rPr/>
              <a:t>Our high-level concept can be summarized as: 'Shazam for your refrigerator + an on-demand zero-waste sous-chef.' As seen on the right in our live interface, the user simply drops a photo or taps a sample fridge. There is zero typing. The system immediately takes over and answers what should be cooked first.</a:t>
            </a:r>
            <a:endParaRPr/>
          </a:p>
        </p:txBody>
      </p:sp>
      <p:sp>
        <p:nvSpPr>
          <p:cNvPr id="1112063750"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65908451" name="Slide Image Placeholder 1"/>
          <p:cNvSpPr>
            <a:spLocks noGrp="1"/>
          </p:cNvSpPr>
          <p:nvPr>
            <p:ph type="sldImg" idx="2"/>
          </p:nvPr>
        </p:nvSpPr>
        <p:spPr bwMode="auto"/>
      </p:sp>
      <p:sp>
        <p:nvSpPr>
          <p:cNvPr id="794892375" name="Notes Placeholder 2"/>
          <p:cNvSpPr>
            <a:spLocks noGrp="1"/>
          </p:cNvSpPr>
          <p:nvPr>
            <p:ph type="body" sz="quarter" idx="3"/>
          </p:nvPr>
        </p:nvSpPr>
        <p:spPr bwMode="auto"/>
        <p:txBody>
          <a:bodyPr/>
          <a:lstStyle/>
          <a:p>
            <a:pPr>
              <a:defRPr/>
            </a:pPr>
            <a:r>
              <a:rPr/>
              <a:t>Here is the complete engineering architecture implemented in our codebase. Notice the modular separation: YOLO11 performs object localization; produce crops pass to MobileNetV3; packaged goods pass to EasyOCR; all signals feed into our deterministic 0-100 priority engine; and finally our Action Agent formulates practical rescue meals.</a:t>
            </a:r>
            <a:endParaRPr/>
          </a:p>
        </p:txBody>
      </p:sp>
      <p:sp>
        <p:nvSpPr>
          <p:cNvPr id="1638588832"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2606006" name="Slide Image Placeholder 1"/>
          <p:cNvSpPr>
            <a:spLocks noGrp="1"/>
          </p:cNvSpPr>
          <p:nvPr>
            <p:ph type="sldImg" idx="2"/>
          </p:nvPr>
        </p:nvSpPr>
        <p:spPr bwMode="auto"/>
      </p:sp>
      <p:sp>
        <p:nvSpPr>
          <p:cNvPr id="132465225" name="Notes Placeholder 2"/>
          <p:cNvSpPr>
            <a:spLocks noGrp="1"/>
          </p:cNvSpPr>
          <p:nvPr>
            <p:ph type="body" sz="quarter" idx="3"/>
          </p:nvPr>
        </p:nvSpPr>
        <p:spPr bwMode="auto"/>
        <p:txBody>
          <a:bodyPr/>
          <a:lstStyle/>
          <a:p>
            <a:pPr>
              <a:defRPr/>
            </a:pPr>
            <a:r>
              <a:rPr/>
              <a:t>Unlike projects that rely on synthetic or mock data, every single metric presented here was reproduced and verified locally. Our YOLO11n detector achieves 93.9% mAP50 on 30 refrigerator classes, and our MobileNetV3 classifier achieves 99.93% accuracy on 1,470 independent test images.</a:t>
            </a:r>
            <a:endParaRPr/>
          </a:p>
        </p:txBody>
      </p:sp>
      <p:sp>
        <p:nvSpPr>
          <p:cNvPr id="2088065626"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6290600" name="Slide Image Placeholder 1"/>
          <p:cNvSpPr>
            <a:spLocks noGrp="1"/>
          </p:cNvSpPr>
          <p:nvPr>
            <p:ph type="sldImg" idx="2"/>
          </p:nvPr>
        </p:nvSpPr>
        <p:spPr bwMode="auto"/>
      </p:sp>
      <p:sp>
        <p:nvSpPr>
          <p:cNvPr id="1210124463" name="Notes Placeholder 2"/>
          <p:cNvSpPr>
            <a:spLocks noGrp="1"/>
          </p:cNvSpPr>
          <p:nvPr>
            <p:ph type="body" sz="quarter" idx="3"/>
          </p:nvPr>
        </p:nvSpPr>
        <p:spPr bwMode="auto"/>
        <p:txBody>
          <a:bodyPr/>
          <a:lstStyle/>
          <a:p>
            <a:pPr>
              <a:defRPr/>
            </a:pPr>
            <a:r>
              <a:rPr/>
              <a:t>We avoid black-box scores. Every single point in our 0 to 100 Rescue Priority Score is explainable and deterministic. If a tomato is scored 72, the user can see exactly why: 42 points from declining visual firmness, 20 points from intrinsic moderate decay, and 10 points from having a surplus quantity of four units.</a:t>
            </a:r>
            <a:endParaRPr/>
          </a:p>
        </p:txBody>
      </p:sp>
      <p:sp>
        <p:nvSpPr>
          <p:cNvPr id="148773050"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6622502" name="Slide Image Placeholder 1"/>
          <p:cNvSpPr>
            <a:spLocks noGrp="1"/>
          </p:cNvSpPr>
          <p:nvPr>
            <p:ph type="sldImg" idx="2"/>
          </p:nvPr>
        </p:nvSpPr>
        <p:spPr bwMode="auto"/>
      </p:sp>
      <p:sp>
        <p:nvSpPr>
          <p:cNvPr id="862616684" name="Notes Placeholder 2"/>
          <p:cNvSpPr>
            <a:spLocks noGrp="1"/>
          </p:cNvSpPr>
          <p:nvPr>
            <p:ph type="body" sz="quarter" idx="3"/>
          </p:nvPr>
        </p:nvSpPr>
        <p:spPr bwMode="auto"/>
        <p:txBody>
          <a:bodyPr/>
          <a:lstStyle/>
          <a:p>
            <a:pPr>
              <a:defRPr/>
            </a:pPr>
            <a:r>
              <a:rPr/>
              <a:t>Here is our live scanner running on a sample refrigerator. On the left, our fine-tuned YOLO11 model draws bounding boxes across multiple shelves. On the right, our Priority Engine highlights that an apple is losing firmness and suggests an immediate 10-minute sauté using butter already in the fridge.</a:t>
            </a:r>
            <a:endParaRPr/>
          </a:p>
        </p:txBody>
      </p:sp>
      <p:sp>
        <p:nvSpPr>
          <p:cNvPr id="1899768832"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3935676" name="Slide Image Placeholder 1"/>
          <p:cNvSpPr>
            <a:spLocks noGrp="1"/>
          </p:cNvSpPr>
          <p:nvPr>
            <p:ph type="sldImg" idx="2"/>
          </p:nvPr>
        </p:nvSpPr>
        <p:spPr bwMode="auto"/>
      </p:sp>
      <p:sp>
        <p:nvSpPr>
          <p:cNvPr id="382531692" name="Notes Placeholder 2"/>
          <p:cNvSpPr>
            <a:spLocks noGrp="1"/>
          </p:cNvSpPr>
          <p:nvPr>
            <p:ph type="body" sz="quarter" idx="3"/>
          </p:nvPr>
        </p:nvSpPr>
        <p:spPr bwMode="auto"/>
        <p:txBody>
          <a:bodyPr/>
          <a:lstStyle/>
          <a:p>
            <a:pPr>
              <a:defRPr/>
            </a:pPr>
            <a:r>
              <a:rPr/>
              <a:t>To make judging effortless, we built a dedicated single-screen evaluator dashboard. It communicates the entire pipeline at a glance: the raw photo with real detections, the multi-signal urgency breakdown, the culinary rescue recipe, and an auditable waste counter.</a:t>
            </a:r>
            <a:endParaRPr/>
          </a:p>
        </p:txBody>
      </p:sp>
      <p:sp>
        <p:nvSpPr>
          <p:cNvPr id="148344177"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5033067" name="Slide Image Placeholder 1"/>
          <p:cNvSpPr>
            <a:spLocks noGrp="1"/>
          </p:cNvSpPr>
          <p:nvPr>
            <p:ph type="sldImg" idx="2"/>
          </p:nvPr>
        </p:nvSpPr>
        <p:spPr bwMode="auto"/>
      </p:sp>
      <p:sp>
        <p:nvSpPr>
          <p:cNvPr id="1423178454" name="Notes Placeholder 2"/>
          <p:cNvSpPr>
            <a:spLocks noGrp="1"/>
          </p:cNvSpPr>
          <p:nvPr>
            <p:ph type="body" sz="quarter" idx="3"/>
          </p:nvPr>
        </p:nvSpPr>
        <p:spPr bwMode="auto"/>
        <p:txBody>
          <a:bodyPr/>
          <a:lstStyle/>
          <a:p>
            <a:pPr>
              <a:defRPr/>
            </a:pPr>
            <a:r>
              <a:rPr/>
              <a:t>An AI system is only as good as its honest boundaries. We do not pretend computer vision can detect bacteria or toxic spoilage. We declare explicit food safety warnings, restrict freshness inference to validated classes, and prioritize user safety over marketing hype.</a:t>
            </a:r>
            <a:endParaRPr/>
          </a:p>
        </p:txBody>
      </p:sp>
      <p:sp>
        <p:nvSpPr>
          <p:cNvPr id="1998555038" name="Slide Number Placeholder 3"/>
          <p:cNvSpPr>
            <a:spLocks noGrp="1"/>
          </p:cNvSpPr>
          <p:nvPr>
            <p:ph type="sldNum" sz="quarter" idx="5"/>
          </p:nvPr>
        </p:nvSpPr>
        <p:spPr bwMode="auto"/>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8768498" name="Slide Image Placeholder 1"/>
          <p:cNvSpPr>
            <a:spLocks noGrp="1"/>
          </p:cNvSpPr>
          <p:nvPr>
            <p:ph type="sldImg" idx="2"/>
          </p:nvPr>
        </p:nvSpPr>
        <p:spPr bwMode="auto"/>
      </p:sp>
      <p:sp>
        <p:nvSpPr>
          <p:cNvPr id="1250579845" name="Notes Placeholder 2"/>
          <p:cNvSpPr>
            <a:spLocks noGrp="1"/>
          </p:cNvSpPr>
          <p:nvPr>
            <p:ph type="body" sz="quarter" idx="3"/>
          </p:nvPr>
        </p:nvSpPr>
        <p:spPr bwMode="auto"/>
        <p:txBody>
          <a:bodyPr/>
          <a:lstStyle/>
          <a:p>
            <a:pPr>
              <a:defRPr/>
            </a:pPr>
            <a:r>
              <a:rPr/>
              <a:t>To conclude: Fridge Rescue takes a tangible, everyday problem that costs families money and damages our planet, and solves it using computer vision and practical zero-waste cooking actions. The prototype is built, the models are trained, and our unit economics are highly sustainable. Thank you, and I look forward to your questions.</a:t>
            </a:r>
            <a:endParaRPr/>
          </a:p>
        </p:txBody>
      </p:sp>
      <p:sp>
        <p:nvSpPr>
          <p:cNvPr id="978939440"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354119105"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576939998"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263857757"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37655447" name="Footer Placeholder 4"/>
          <p:cNvSpPr>
            <a:spLocks noGrp="1"/>
          </p:cNvSpPr>
          <p:nvPr>
            <p:ph type="ftr" sz="quarter" idx="11"/>
          </p:nvPr>
        </p:nvSpPr>
        <p:spPr bwMode="auto"/>
        <p:txBody>
          <a:bodyPr/>
          <a:lstStyle/>
          <a:p>
            <a:pPr>
              <a:defRPr/>
            </a:pPr>
            <a:endParaRPr lang="en-US"/>
          </a:p>
        </p:txBody>
      </p:sp>
      <p:sp>
        <p:nvSpPr>
          <p:cNvPr id="206451566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088423887" name="Title 1"/>
          <p:cNvSpPr>
            <a:spLocks noGrp="1"/>
          </p:cNvSpPr>
          <p:nvPr>
            <p:ph type="title"/>
          </p:nvPr>
        </p:nvSpPr>
        <p:spPr bwMode="auto"/>
        <p:txBody>
          <a:bodyPr/>
          <a:lstStyle/>
          <a:p>
            <a:pPr>
              <a:defRPr/>
            </a:pPr>
            <a:r>
              <a:rPr lang="en-US"/>
              <a:t>Click to edit Master title style</a:t>
            </a:r>
            <a:endParaRPr lang="en-US"/>
          </a:p>
        </p:txBody>
      </p:sp>
      <p:sp>
        <p:nvSpPr>
          <p:cNvPr id="50398549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85947102"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5281398" name="Footer Placeholder 4"/>
          <p:cNvSpPr>
            <a:spLocks noGrp="1"/>
          </p:cNvSpPr>
          <p:nvPr>
            <p:ph type="ftr" sz="quarter" idx="11"/>
          </p:nvPr>
        </p:nvSpPr>
        <p:spPr bwMode="auto"/>
        <p:txBody>
          <a:bodyPr/>
          <a:lstStyle/>
          <a:p>
            <a:pPr>
              <a:defRPr/>
            </a:pPr>
            <a:endParaRPr lang="en-US"/>
          </a:p>
        </p:txBody>
      </p:sp>
      <p:sp>
        <p:nvSpPr>
          <p:cNvPr id="99193755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382420294"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047909658"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462837100"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16335006" name="Footer Placeholder 4"/>
          <p:cNvSpPr>
            <a:spLocks noGrp="1"/>
          </p:cNvSpPr>
          <p:nvPr>
            <p:ph type="ftr" sz="quarter" idx="11"/>
          </p:nvPr>
        </p:nvSpPr>
        <p:spPr bwMode="auto"/>
        <p:txBody>
          <a:bodyPr/>
          <a:lstStyle/>
          <a:p>
            <a:pPr>
              <a:defRPr/>
            </a:pPr>
            <a:endParaRPr lang="en-US"/>
          </a:p>
        </p:txBody>
      </p:sp>
      <p:sp>
        <p:nvSpPr>
          <p:cNvPr id="84258533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036786451" name="Title 1"/>
          <p:cNvSpPr>
            <a:spLocks noGrp="1"/>
          </p:cNvSpPr>
          <p:nvPr>
            <p:ph type="title"/>
          </p:nvPr>
        </p:nvSpPr>
        <p:spPr bwMode="auto"/>
        <p:txBody>
          <a:bodyPr/>
          <a:lstStyle/>
          <a:p>
            <a:pPr>
              <a:defRPr/>
            </a:pPr>
            <a:r>
              <a:rPr lang="en-US"/>
              <a:t>Click to edit Master title style</a:t>
            </a:r>
            <a:endParaRPr lang="en-US"/>
          </a:p>
        </p:txBody>
      </p:sp>
      <p:sp>
        <p:nvSpPr>
          <p:cNvPr id="1740377491"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33609161"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41461236"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08042086" name="Footer Placeholder 5"/>
          <p:cNvSpPr>
            <a:spLocks noGrp="1"/>
          </p:cNvSpPr>
          <p:nvPr>
            <p:ph type="ftr" sz="quarter" idx="11"/>
          </p:nvPr>
        </p:nvSpPr>
        <p:spPr bwMode="auto"/>
        <p:txBody>
          <a:bodyPr/>
          <a:lstStyle/>
          <a:p>
            <a:pPr>
              <a:defRPr/>
            </a:pPr>
            <a:endParaRPr lang="en-US"/>
          </a:p>
        </p:txBody>
      </p:sp>
      <p:sp>
        <p:nvSpPr>
          <p:cNvPr id="199981011"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298584944"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581860502"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044437373"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10057216"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868917732"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14137608"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671328866" name="Footer Placeholder 7"/>
          <p:cNvSpPr>
            <a:spLocks noGrp="1"/>
          </p:cNvSpPr>
          <p:nvPr>
            <p:ph type="ftr" sz="quarter" idx="11"/>
          </p:nvPr>
        </p:nvSpPr>
        <p:spPr bwMode="auto"/>
        <p:txBody>
          <a:bodyPr/>
          <a:lstStyle/>
          <a:p>
            <a:pPr>
              <a:defRPr/>
            </a:pPr>
            <a:endParaRPr lang="en-US"/>
          </a:p>
        </p:txBody>
      </p:sp>
      <p:sp>
        <p:nvSpPr>
          <p:cNvPr id="296847207"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38801629" name="Title 1"/>
          <p:cNvSpPr>
            <a:spLocks noGrp="1"/>
          </p:cNvSpPr>
          <p:nvPr>
            <p:ph type="title"/>
          </p:nvPr>
        </p:nvSpPr>
        <p:spPr bwMode="auto"/>
        <p:txBody>
          <a:bodyPr/>
          <a:lstStyle/>
          <a:p>
            <a:pPr>
              <a:defRPr/>
            </a:pPr>
            <a:r>
              <a:rPr lang="en-US"/>
              <a:t>Click to edit Master title style</a:t>
            </a:r>
            <a:endParaRPr lang="en-US"/>
          </a:p>
        </p:txBody>
      </p:sp>
      <p:sp>
        <p:nvSpPr>
          <p:cNvPr id="644654311"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557061510" name="Footer Placeholder 3"/>
          <p:cNvSpPr>
            <a:spLocks noGrp="1"/>
          </p:cNvSpPr>
          <p:nvPr>
            <p:ph type="ftr" sz="quarter" idx="11"/>
          </p:nvPr>
        </p:nvSpPr>
        <p:spPr bwMode="auto"/>
        <p:txBody>
          <a:bodyPr/>
          <a:lstStyle/>
          <a:p>
            <a:pPr>
              <a:defRPr/>
            </a:pPr>
            <a:endParaRPr lang="en-US"/>
          </a:p>
        </p:txBody>
      </p:sp>
      <p:sp>
        <p:nvSpPr>
          <p:cNvPr id="962801581"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643164618"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47447867" name="Footer Placeholder 2"/>
          <p:cNvSpPr>
            <a:spLocks noGrp="1"/>
          </p:cNvSpPr>
          <p:nvPr>
            <p:ph type="ftr" sz="quarter" idx="11"/>
          </p:nvPr>
        </p:nvSpPr>
        <p:spPr bwMode="auto"/>
        <p:txBody>
          <a:bodyPr/>
          <a:lstStyle/>
          <a:p>
            <a:pPr>
              <a:defRPr/>
            </a:pPr>
            <a:endParaRPr lang="en-US"/>
          </a:p>
        </p:txBody>
      </p:sp>
      <p:sp>
        <p:nvSpPr>
          <p:cNvPr id="1961562478"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087423196"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2096817213"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32351768"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882660924"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514136381" name="Footer Placeholder 5"/>
          <p:cNvSpPr>
            <a:spLocks noGrp="1"/>
          </p:cNvSpPr>
          <p:nvPr>
            <p:ph type="ftr" sz="quarter" idx="11"/>
          </p:nvPr>
        </p:nvSpPr>
        <p:spPr bwMode="auto"/>
        <p:txBody>
          <a:bodyPr/>
          <a:lstStyle/>
          <a:p>
            <a:pPr>
              <a:defRPr/>
            </a:pPr>
            <a:endParaRPr lang="en-US"/>
          </a:p>
        </p:txBody>
      </p:sp>
      <p:sp>
        <p:nvSpPr>
          <p:cNvPr id="752833664"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811379397"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2139455762"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36014332"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307843325"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982235220" name="Footer Placeholder 5"/>
          <p:cNvSpPr>
            <a:spLocks noGrp="1"/>
          </p:cNvSpPr>
          <p:nvPr>
            <p:ph type="ftr" sz="quarter" idx="11"/>
          </p:nvPr>
        </p:nvSpPr>
        <p:spPr bwMode="auto"/>
        <p:txBody>
          <a:bodyPr/>
          <a:lstStyle/>
          <a:p>
            <a:pPr>
              <a:defRPr/>
            </a:pPr>
            <a:endParaRPr lang="en-US"/>
          </a:p>
        </p:txBody>
      </p:sp>
      <p:sp>
        <p:nvSpPr>
          <p:cNvPr id="1041966002"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707616155" name="Title 1"/>
          <p:cNvSpPr>
            <a:spLocks noGrp="1"/>
          </p:cNvSpPr>
          <p:nvPr>
            <p:ph type="title"/>
          </p:nvPr>
        </p:nvSpPr>
        <p:spPr bwMode="auto"/>
        <p:txBody>
          <a:bodyPr/>
          <a:lstStyle/>
          <a:p>
            <a:pPr>
              <a:defRPr/>
            </a:pPr>
            <a:r>
              <a:rPr lang="en-US"/>
              <a:t>Click to edit Master title style</a:t>
            </a:r>
            <a:endParaRPr lang="en-US"/>
          </a:p>
        </p:txBody>
      </p:sp>
      <p:sp>
        <p:nvSpPr>
          <p:cNvPr id="330229985"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7174001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013645585" name="Footer Placeholder 4"/>
          <p:cNvSpPr>
            <a:spLocks noGrp="1"/>
          </p:cNvSpPr>
          <p:nvPr>
            <p:ph type="ftr" sz="quarter" idx="11"/>
          </p:nvPr>
        </p:nvSpPr>
        <p:spPr bwMode="auto"/>
        <p:txBody>
          <a:bodyPr/>
          <a:lstStyle/>
          <a:p>
            <a:pPr>
              <a:defRPr/>
            </a:pPr>
            <a:endParaRPr lang="en-US"/>
          </a:p>
        </p:txBody>
      </p:sp>
      <p:sp>
        <p:nvSpPr>
          <p:cNvPr id="492513796"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66974128"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506031501"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1606013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77554874" name="Footer Placeholder 4"/>
          <p:cNvSpPr>
            <a:spLocks noGrp="1"/>
          </p:cNvSpPr>
          <p:nvPr>
            <p:ph type="ftr" sz="quarter" idx="11"/>
          </p:nvPr>
        </p:nvSpPr>
        <p:spPr bwMode="auto"/>
        <p:txBody>
          <a:bodyPr/>
          <a:lstStyle/>
          <a:p>
            <a:pPr>
              <a:defRPr/>
            </a:pPr>
            <a:endParaRPr lang="en-US"/>
          </a:p>
        </p:txBody>
      </p:sp>
      <p:sp>
        <p:nvSpPr>
          <p:cNvPr id="177875223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268906596"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303053513"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65462938"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1701659831"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730843196"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5322722" name="Rectangle 1"/>
          <p:cNvSpPr/>
          <p:nvPr/>
        </p:nvSpPr>
        <p:spPr bwMode="auto">
          <a:xfrm>
            <a:off x="0" y="0"/>
            <a:ext cx="12191695" cy="6858000"/>
          </a:xfrm>
          <a:prstGeom prst="rect">
            <a:avLst/>
          </a:prstGeom>
          <a:solidFill>
            <a:srgbClr val="0C1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77519235" name="Rounded Rectangle 2"/>
          <p:cNvSpPr/>
          <p:nvPr/>
        </p:nvSpPr>
        <p:spPr bwMode="auto">
          <a:xfrm>
            <a:off x="914400" y="1097280"/>
            <a:ext cx="10362895" cy="466344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64357106" name="Rounded Rectangle 3"/>
          <p:cNvSpPr/>
          <p:nvPr/>
        </p:nvSpPr>
        <p:spPr bwMode="auto">
          <a:xfrm>
            <a:off x="1371600" y="1586741"/>
            <a:ext cx="3840480" cy="347472"/>
          </a:xfrm>
          <a:prstGeom prst="roundRect">
            <a:avLst>
              <a:gd name="adj" fmla="val 16667"/>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C111D"/>
                </a:solidFill>
                <a:latin typeface="Arial"/>
              </a:defRPr>
            </a:pPr>
            <a:r>
              <a:rPr/>
              <a:t>UN SDG 12 (TARGET 12.3) &amp; SDG 2 ALIGNED</a:t>
            </a:r>
            <a:endParaRPr/>
          </a:p>
        </p:txBody>
      </p:sp>
      <p:sp>
        <p:nvSpPr>
          <p:cNvPr id="1350641070" name="TextBox 4"/>
          <p:cNvSpPr txBox="1"/>
          <p:nvPr/>
        </p:nvSpPr>
        <p:spPr bwMode="auto">
          <a:xfrm>
            <a:off x="1371600" y="2135381"/>
            <a:ext cx="9475494" cy="3115137"/>
          </a:xfrm>
          <a:prstGeom prst="rect">
            <a:avLst/>
          </a:prstGeom>
          <a:noFill/>
        </p:spPr>
        <p:txBody>
          <a:bodyPr wrap="square">
            <a:spAutoFit/>
          </a:bodyPr>
          <a:lstStyle/>
          <a:p>
            <a:pPr>
              <a:spcAft>
                <a:spcPts val="800"/>
              </a:spcAft>
              <a:defRPr sz="4600" b="1">
                <a:solidFill>
                  <a:srgbClr val="F8FAFC"/>
                </a:solidFill>
                <a:latin typeface="Arial"/>
              </a:defRPr>
            </a:pPr>
            <a:r>
              <a:rPr sz="7200"/>
              <a:t>FRIDGE RESCUE 🧊</a:t>
            </a:r>
            <a:endParaRPr sz="7200"/>
          </a:p>
          <a:p>
            <a:pPr>
              <a:spcAft>
                <a:spcPts val="1400"/>
              </a:spcAft>
              <a:defRPr sz="2200" i="1">
                <a:solidFill>
                  <a:srgbClr val="10B981"/>
                </a:solidFill>
                <a:latin typeface="Georgia"/>
              </a:defRPr>
            </a:pPr>
            <a:r>
              <a:rPr sz="2600"/>
              <a:t>Rescue food before it becomes waste.</a:t>
            </a:r>
            <a:endParaRPr sz="2600"/>
          </a:p>
          <a:p>
            <a:pPr>
              <a:spcAft>
                <a:spcPts val="2400"/>
              </a:spcAft>
              <a:defRPr sz="1300">
                <a:solidFill>
                  <a:srgbClr val="CBD5E1"/>
                </a:solidFill>
                <a:latin typeface="Arial"/>
              </a:defRPr>
            </a:pPr>
            <a:r>
              <a:rPr sz="1600"/>
              <a:t>A zero-typing, multi-modal artificial intelligence system that inspects refrigerator photos, triages expiring food through explainable priority scoring, and generates immediate culinary rescue actions.</a:t>
            </a:r>
            <a:endParaRPr sz="1600"/>
          </a:p>
          <a:p>
            <a:pPr>
              <a:defRPr sz="1100">
                <a:solidFill>
                  <a:srgbClr val="94A3B8"/>
                </a:solidFill>
                <a:latin typeface="Arial"/>
              </a:defRPr>
            </a:pPr>
            <a:r>
              <a:rPr lang="en-IN" sz="1400"/>
              <a:t>Intern</a:t>
            </a:r>
            <a:r>
              <a:rPr sz="1400"/>
              <a:t>:</a:t>
            </a:r>
            <a:r>
              <a:rPr lang="en-IN" sz="1400"/>
              <a:t> Mohammad</a:t>
            </a:r>
            <a:r>
              <a:rPr sz="1400"/>
              <a:t> Tahir Khan </a:t>
            </a:r>
            <a:r>
              <a:rPr lang="en-IN" sz="1400"/>
              <a:t>Gooty</a:t>
            </a:r>
            <a:r>
              <a:rPr sz="1400"/>
              <a:t>  |   </a:t>
            </a:r>
            <a:r>
              <a:rPr lang="en-IN" sz="1400"/>
              <a:t>MJCET </a:t>
            </a:r>
            <a:r>
              <a:rPr sz="1400"/>
              <a:t> |   Stack: PyTorch • YOLO11n • MobileNetV3 • EasyOCR • FastAPI • SQLite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3092548" name="Rectangle 1"/>
          <p:cNvSpPr/>
          <p:nvPr/>
        </p:nvSpPr>
        <p:spPr bwMode="auto">
          <a:xfrm>
            <a:off x="0" y="0"/>
            <a:ext cx="12191695" cy="6858000"/>
          </a:xfrm>
          <a:prstGeom prst="rect">
            <a:avLst/>
          </a:prstGeom>
          <a:solidFill>
            <a:srgbClr val="0C1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926879621" name="TextBox 2"/>
          <p:cNvSpPr txBox="1"/>
          <p:nvPr/>
        </p:nvSpPr>
        <p:spPr bwMode="auto">
          <a:xfrm>
            <a:off x="731520" y="365760"/>
            <a:ext cx="10730454" cy="183240"/>
          </a:xfrm>
          <a:prstGeom prst="rect">
            <a:avLst/>
          </a:prstGeom>
          <a:noFill/>
        </p:spPr>
        <p:txBody>
          <a:bodyPr wrap="square" lIns="0" tIns="0" rIns="0" bIns="0">
            <a:spAutoFit/>
          </a:bodyPr>
          <a:lstStyle/>
          <a:p>
            <a:pPr>
              <a:defRPr sz="950" b="1">
                <a:solidFill>
                  <a:srgbClr val="10B981"/>
                </a:solidFill>
                <a:latin typeface="Arial"/>
              </a:defRPr>
            </a:pPr>
            <a:r>
              <a:rPr sz="1200"/>
              <a:t>IBM SKILLSBUILD MASTERCLASS | REAL-LIFE PROJECTS   •   SLIDE 02 / 10</a:t>
            </a:r>
            <a:endParaRPr sz="1200"/>
          </a:p>
        </p:txBody>
      </p:sp>
      <p:sp>
        <p:nvSpPr>
          <p:cNvPr id="1269413636" name="TextBox 3"/>
          <p:cNvSpPr txBox="1"/>
          <p:nvPr/>
        </p:nvSpPr>
        <p:spPr bwMode="auto">
          <a:xfrm>
            <a:off x="731520" y="658368"/>
            <a:ext cx="10729734" cy="427079"/>
          </a:xfrm>
          <a:prstGeom prst="rect">
            <a:avLst/>
          </a:prstGeom>
          <a:noFill/>
        </p:spPr>
        <p:txBody>
          <a:bodyPr wrap="square" lIns="0" tIns="0" rIns="0" bIns="0">
            <a:spAutoFit/>
          </a:bodyPr>
          <a:lstStyle/>
          <a:p>
            <a:pPr>
              <a:defRPr sz="2200" b="1">
                <a:solidFill>
                  <a:srgbClr val="F8FAFC"/>
                </a:solidFill>
                <a:latin typeface="Arial"/>
              </a:defRPr>
            </a:pPr>
            <a:r>
              <a:rPr sz="2800"/>
              <a:t>The Real-World Crisis: The Crisper Drawer Graveyard</a:t>
            </a:r>
            <a:endParaRPr sz="2800"/>
          </a:p>
        </p:txBody>
      </p:sp>
      <p:sp>
        <p:nvSpPr>
          <p:cNvPr id="8969732" name="Rounded Rectangle 4"/>
          <p:cNvSpPr/>
          <p:nvPr/>
        </p:nvSpPr>
        <p:spPr bwMode="auto">
          <a:xfrm>
            <a:off x="731520" y="1463040"/>
            <a:ext cx="3328416"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679581806" name="Rectangle 5"/>
          <p:cNvSpPr/>
          <p:nvPr/>
        </p:nvSpPr>
        <p:spPr bwMode="auto">
          <a:xfrm>
            <a:off x="731520" y="1463040"/>
            <a:ext cx="3328416"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663730841" name="TextBox 6"/>
          <p:cNvSpPr txBox="1"/>
          <p:nvPr/>
        </p:nvSpPr>
        <p:spPr bwMode="auto">
          <a:xfrm>
            <a:off x="914400" y="1645920"/>
            <a:ext cx="2963735" cy="4196439"/>
          </a:xfrm>
          <a:prstGeom prst="rect">
            <a:avLst/>
          </a:prstGeom>
          <a:noFill/>
        </p:spPr>
        <p:txBody>
          <a:bodyPr wrap="square">
            <a:spAutoFit/>
          </a:bodyPr>
          <a:lstStyle/>
          <a:p>
            <a:pPr>
              <a:spcAft>
                <a:spcPts val="1200"/>
              </a:spcAft>
              <a:defRPr sz="1200" b="1">
                <a:solidFill>
                  <a:srgbClr val="F43F5E"/>
                </a:solidFill>
                <a:latin typeface="Arial"/>
              </a:defRPr>
            </a:pPr>
            <a:r>
              <a:rPr sz="1800"/>
              <a:t>1. INVISIBLE REFRIGERATOR DECAY</a:t>
            </a:r>
            <a:endParaRPr sz="1800"/>
          </a:p>
          <a:p>
            <a:pPr>
              <a:spcAft>
                <a:spcPts val="800"/>
              </a:spcAft>
              <a:defRPr sz="1000" b="0">
                <a:solidFill>
                  <a:srgbClr val="F8FAFC"/>
                </a:solidFill>
                <a:latin typeface="Arial"/>
              </a:defRPr>
            </a:pPr>
            <a:r>
              <a:rPr sz="1400"/>
              <a:t>The Domestic Blindspot: Over 60% of post-harvest food waste occurs inside residential households, not commercial farms or supermarkets.</a:t>
            </a:r>
            <a:endParaRPr sz="1400"/>
          </a:p>
          <a:p>
            <a:pPr>
              <a:spcAft>
                <a:spcPts val="800"/>
              </a:spcAft>
              <a:defRPr sz="1000" b="0">
                <a:solidFill>
                  <a:srgbClr val="F8FAFC"/>
                </a:solidFill>
                <a:latin typeface="Arial"/>
              </a:defRPr>
            </a:pPr>
            <a:r>
              <a:rPr sz="1400"/>
              <a:t>The 3D Occlusion Reality: Refrigerators are chaotic, 3-dimensional spaces. Perishable produce pushed into bottom crisper drawers or behind tall milk jugs rots quietly unseen.</a:t>
            </a:r>
            <a:endParaRPr sz="1400"/>
          </a:p>
          <a:p>
            <a:pPr>
              <a:spcAft>
                <a:spcPts val="800"/>
              </a:spcAft>
              <a:defRPr sz="1000" b="0">
                <a:solidFill>
                  <a:srgbClr val="F8FAFC"/>
                </a:solidFill>
                <a:latin typeface="Arial"/>
              </a:defRPr>
            </a:pPr>
            <a:r>
              <a:rPr sz="1400"/>
              <a:t>Out of Sight, Out of Mind: By the time items are rediscovered, they have already passed the point of edible rescue.</a:t>
            </a:r>
            <a:endParaRPr sz="1400"/>
          </a:p>
        </p:txBody>
      </p:sp>
      <p:sp>
        <p:nvSpPr>
          <p:cNvPr id="1136275739" name="Rounded Rectangle 7"/>
          <p:cNvSpPr/>
          <p:nvPr/>
        </p:nvSpPr>
        <p:spPr bwMode="auto">
          <a:xfrm>
            <a:off x="4425696" y="1463040"/>
            <a:ext cx="3328416"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368782815" name="Rectangle 8"/>
          <p:cNvSpPr/>
          <p:nvPr/>
        </p:nvSpPr>
        <p:spPr bwMode="auto">
          <a:xfrm>
            <a:off x="4425696" y="1463040"/>
            <a:ext cx="3328416"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73424440" name="TextBox 9"/>
          <p:cNvSpPr txBox="1"/>
          <p:nvPr/>
        </p:nvSpPr>
        <p:spPr bwMode="auto">
          <a:xfrm>
            <a:off x="4608576" y="1645920"/>
            <a:ext cx="2963735" cy="4196439"/>
          </a:xfrm>
          <a:prstGeom prst="rect">
            <a:avLst/>
          </a:prstGeom>
          <a:noFill/>
        </p:spPr>
        <p:txBody>
          <a:bodyPr wrap="square">
            <a:spAutoFit/>
          </a:bodyPr>
          <a:lstStyle/>
          <a:p>
            <a:pPr>
              <a:spcAft>
                <a:spcPts val="1200"/>
              </a:spcAft>
              <a:defRPr sz="1200" b="1">
                <a:solidFill>
                  <a:srgbClr val="F59E0B"/>
                </a:solidFill>
                <a:latin typeface="Arial"/>
              </a:defRPr>
            </a:pPr>
            <a:r>
              <a:rPr sz="1800"/>
              <a:t>2. THE TRACKING FRICTION TRAP</a:t>
            </a:r>
            <a:endParaRPr sz="1800"/>
          </a:p>
          <a:p>
            <a:pPr>
              <a:spcAft>
                <a:spcPts val="800"/>
              </a:spcAft>
              <a:defRPr sz="1000" b="0">
                <a:solidFill>
                  <a:srgbClr val="F8FAFC"/>
                </a:solidFill>
                <a:latin typeface="Arial"/>
              </a:defRPr>
            </a:pPr>
            <a:r>
              <a:rPr sz="1400"/>
              <a:t>Manual Barcode Burnout: Existing inventory apps (CozZo, NoWaste) demand 15 minutes of manual barcode scanning and date entry after grocery shopping.</a:t>
            </a:r>
            <a:endParaRPr sz="1400"/>
          </a:p>
          <a:p>
            <a:pPr>
              <a:spcAft>
                <a:spcPts val="800"/>
              </a:spcAft>
              <a:defRPr sz="1000" b="0">
                <a:solidFill>
                  <a:srgbClr val="F8FAFC"/>
                </a:solidFill>
                <a:latin typeface="Arial"/>
              </a:defRPr>
            </a:pPr>
            <a:r>
              <a:rPr sz="1400"/>
              <a:t>85%+ Abandonment Rate: Consumers simply do not have the patience to barcode-track raw tomatoes and coriander; apps are abandoned within 7 days.</a:t>
            </a:r>
            <a:endParaRPr sz="1400"/>
          </a:p>
          <a:p>
            <a:pPr>
              <a:spcAft>
                <a:spcPts val="800"/>
              </a:spcAft>
              <a:defRPr sz="1000" b="0">
                <a:solidFill>
                  <a:srgbClr val="F8FAFC"/>
                </a:solidFill>
                <a:latin typeface="Arial"/>
              </a:defRPr>
            </a:pPr>
            <a:r>
              <a:rPr sz="1400"/>
              <a:t>Expensive Appliances: Smart refrigerators (Samsung Family Hub) cost &gt;$3,500, remaining a closed luxury out of reach for everyday families.</a:t>
            </a:r>
            <a:endParaRPr sz="1400"/>
          </a:p>
        </p:txBody>
      </p:sp>
      <p:sp>
        <p:nvSpPr>
          <p:cNvPr id="1179313131" name="Rounded Rectangle 10"/>
          <p:cNvSpPr/>
          <p:nvPr/>
        </p:nvSpPr>
        <p:spPr bwMode="auto">
          <a:xfrm>
            <a:off x="8119872" y="1463040"/>
            <a:ext cx="3328416"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689682679" name="Rectangle 11"/>
          <p:cNvSpPr/>
          <p:nvPr/>
        </p:nvSpPr>
        <p:spPr bwMode="auto">
          <a:xfrm>
            <a:off x="8119872" y="1463040"/>
            <a:ext cx="3328416"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331592081" name="TextBox 12"/>
          <p:cNvSpPr txBox="1"/>
          <p:nvPr/>
        </p:nvSpPr>
        <p:spPr bwMode="auto">
          <a:xfrm>
            <a:off x="8302752" y="1645920"/>
            <a:ext cx="2963735" cy="3983079"/>
          </a:xfrm>
          <a:prstGeom prst="rect">
            <a:avLst/>
          </a:prstGeom>
          <a:noFill/>
        </p:spPr>
        <p:txBody>
          <a:bodyPr wrap="square">
            <a:spAutoFit/>
          </a:bodyPr>
          <a:lstStyle/>
          <a:p>
            <a:pPr>
              <a:spcAft>
                <a:spcPts val="1200"/>
              </a:spcAft>
              <a:defRPr sz="1200" b="1">
                <a:solidFill>
                  <a:srgbClr val="3B82F6"/>
                </a:solidFill>
                <a:latin typeface="Arial"/>
              </a:defRPr>
            </a:pPr>
            <a:r>
              <a:rPr sz="1800"/>
              <a:t>3. WEEKDAY COOKING PARALYSIS</a:t>
            </a:r>
            <a:endParaRPr sz="1800"/>
          </a:p>
          <a:p>
            <a:pPr>
              <a:spcAft>
                <a:spcPts val="800"/>
              </a:spcAft>
              <a:defRPr sz="1000" b="0">
                <a:solidFill>
                  <a:srgbClr val="F8FAFC"/>
                </a:solidFill>
                <a:latin typeface="Arial"/>
              </a:defRPr>
            </a:pPr>
            <a:r>
              <a:rPr sz="1400"/>
              <a:t>The 3-Ingredient Dilemma: When consumers notice wilting spinach, half an onion, and two soft tomatoes, they don't know how to combine them.</a:t>
            </a:r>
            <a:endParaRPr sz="1400"/>
          </a:p>
          <a:p>
            <a:pPr>
              <a:spcAft>
                <a:spcPts val="800"/>
              </a:spcAft>
              <a:defRPr sz="1000" b="0">
                <a:solidFill>
                  <a:srgbClr val="F8FAFC"/>
                </a:solidFill>
                <a:latin typeface="Arial"/>
              </a:defRPr>
            </a:pPr>
            <a:r>
              <a:rPr sz="1400"/>
              <a:t>Blog Recipe Overload: Online recipes demand 15 new ingredients requiring a separate grocery run, defeating the purpose of fridge cleanout.</a:t>
            </a:r>
            <a:endParaRPr sz="1400"/>
          </a:p>
          <a:p>
            <a:pPr>
              <a:spcAft>
                <a:spcPts val="800"/>
              </a:spcAft>
              <a:defRPr sz="1000" b="0">
                <a:solidFill>
                  <a:srgbClr val="F8FAFC"/>
                </a:solidFill>
                <a:latin typeface="Arial"/>
              </a:defRPr>
            </a:pPr>
            <a:r>
              <a:rPr sz="1400"/>
              <a:t>The Wasteful Default: Exhausted after work, the user orders food delivery, and tosses $35–$50 of groceries into the garbage bin.</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0907012" name="Rectangle 1"/>
          <p:cNvSpPr/>
          <p:nvPr/>
        </p:nvSpPr>
        <p:spPr bwMode="auto">
          <a:xfrm>
            <a:off x="0" y="0"/>
            <a:ext cx="12191695" cy="6858000"/>
          </a:xfrm>
          <a:prstGeom prst="rect">
            <a:avLst/>
          </a:prstGeom>
          <a:solidFill>
            <a:srgbClr val="0C1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758722582" name="TextBox 2"/>
          <p:cNvSpPr txBox="1"/>
          <p:nvPr/>
        </p:nvSpPr>
        <p:spPr bwMode="auto">
          <a:xfrm>
            <a:off x="731520" y="365760"/>
            <a:ext cx="10734054" cy="183240"/>
          </a:xfrm>
          <a:prstGeom prst="rect">
            <a:avLst/>
          </a:prstGeom>
          <a:noFill/>
        </p:spPr>
        <p:txBody>
          <a:bodyPr wrap="square" lIns="0" tIns="0" rIns="0" bIns="0">
            <a:spAutoFit/>
          </a:bodyPr>
          <a:lstStyle/>
          <a:p>
            <a:pPr>
              <a:defRPr sz="950" b="1">
                <a:solidFill>
                  <a:srgbClr val="10B981"/>
                </a:solidFill>
                <a:latin typeface="Arial"/>
              </a:defRPr>
            </a:pPr>
            <a:r>
              <a:rPr sz="1200"/>
              <a:t>IBM SKILLSBUILD MASTERCLASS</a:t>
            </a:r>
            <a:r>
              <a:rPr sz="1200"/>
              <a:t> | REAL-LIFE PROJECTS   •   SLIDE 03 / 10</a:t>
            </a:r>
            <a:endParaRPr sz="1200"/>
          </a:p>
        </p:txBody>
      </p:sp>
      <p:sp>
        <p:nvSpPr>
          <p:cNvPr id="557278624" name="TextBox 3"/>
          <p:cNvSpPr txBox="1"/>
          <p:nvPr/>
        </p:nvSpPr>
        <p:spPr bwMode="auto">
          <a:xfrm>
            <a:off x="731520" y="658368"/>
            <a:ext cx="10731894" cy="427079"/>
          </a:xfrm>
          <a:prstGeom prst="rect">
            <a:avLst/>
          </a:prstGeom>
          <a:noFill/>
        </p:spPr>
        <p:txBody>
          <a:bodyPr wrap="square" lIns="0" tIns="0" rIns="0" bIns="0">
            <a:spAutoFit/>
          </a:bodyPr>
          <a:lstStyle/>
          <a:p>
            <a:pPr>
              <a:defRPr sz="2200" b="1">
                <a:solidFill>
                  <a:srgbClr val="F8FAFC"/>
                </a:solidFill>
                <a:latin typeface="Arial"/>
              </a:defRPr>
            </a:pPr>
            <a:r>
              <a:rPr sz="2800"/>
              <a:t>The Solution: Zero-Friction One-Shot Fridge Triage</a:t>
            </a:r>
            <a:endParaRPr sz="2800"/>
          </a:p>
        </p:txBody>
      </p:sp>
      <p:sp>
        <p:nvSpPr>
          <p:cNvPr id="1937521738" name="Rounded Rectangle 4"/>
          <p:cNvSpPr/>
          <p:nvPr/>
        </p:nvSpPr>
        <p:spPr bwMode="auto">
          <a:xfrm flipH="0" flipV="0">
            <a:off x="496071" y="1463040"/>
            <a:ext cx="5356088"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208252250" name="TextBox 5"/>
          <p:cNvSpPr txBox="1"/>
          <p:nvPr/>
        </p:nvSpPr>
        <p:spPr bwMode="auto">
          <a:xfrm flipH="0" flipV="0">
            <a:off x="805324" y="1556942"/>
            <a:ext cx="4937121" cy="4500120"/>
          </a:xfrm>
          <a:prstGeom prst="rect">
            <a:avLst/>
          </a:prstGeom>
          <a:noFill/>
        </p:spPr>
        <p:txBody>
          <a:bodyPr wrap="square">
            <a:spAutoFit/>
          </a:bodyPr>
          <a:lstStyle/>
          <a:p>
            <a:pPr>
              <a:defRPr sz="1100" b="1">
                <a:solidFill>
                  <a:srgbClr val="10B981"/>
                </a:solidFill>
                <a:latin typeface="Arial"/>
              </a:defRPr>
            </a:pPr>
            <a:r>
              <a:rPr sz="1600"/>
              <a:t>CORE VALUE PROPOSITION</a:t>
            </a:r>
            <a:endParaRPr sz="1600"/>
          </a:p>
          <a:p>
            <a:pPr>
              <a:spcAft>
                <a:spcPts val="1400"/>
              </a:spcAft>
              <a:defRPr sz="1350" i="1">
                <a:solidFill>
                  <a:srgbClr val="F8FAFC"/>
                </a:solidFill>
                <a:latin typeface="Georgia"/>
              </a:defRPr>
            </a:pPr>
            <a:r>
              <a:rPr sz="1800"/>
              <a:t>"Rescue food before it becomes waste — snap your fridge, see what needs to be eaten first, and get tonight's dinner idea with zero typing."</a:t>
            </a:r>
            <a:endParaRPr sz="1800"/>
          </a:p>
          <a:p>
            <a:pPr>
              <a:spcAft>
                <a:spcPts val="800"/>
              </a:spcAft>
              <a:defRPr sz="1000" b="0">
                <a:solidFill>
                  <a:srgbClr val="14B8A6"/>
                </a:solidFill>
                <a:latin typeface="Arial"/>
              </a:defRPr>
            </a:pPr>
            <a:r>
              <a:rPr sz="1400"/>
              <a:t>📸 One-Shot Vision: Users simply take a smartphone picture of their open fridge. Fine-tuned YOLO11n instantly detects 30 common grocery items simultaneously.</a:t>
            </a:r>
            <a:endParaRPr sz="1400"/>
          </a:p>
          <a:p>
            <a:pPr>
              <a:spcAft>
                <a:spcPts val="800"/>
              </a:spcAft>
              <a:defRPr sz="1000" b="0">
                <a:solidFill>
                  <a:srgbClr val="14B8A6"/>
                </a:solidFill>
                <a:latin typeface="Arial"/>
              </a:defRPr>
            </a:pPr>
            <a:r>
              <a:rPr sz="1400"/>
              <a:t>🎯 Dual-Signal Inspection: Produce crops are visually classified for decay via MobileNetV3; packaged cartons are read via EasyOCR for Best Before dates.</a:t>
            </a:r>
            <a:endParaRPr sz="1400"/>
          </a:p>
          <a:p>
            <a:pPr>
              <a:spcAft>
                <a:spcPts val="800"/>
              </a:spcAft>
              <a:defRPr sz="1000" b="0">
                <a:solidFill>
                  <a:srgbClr val="14B8A6"/>
                </a:solidFill>
                <a:latin typeface="Arial"/>
              </a:defRPr>
            </a:pPr>
            <a:r>
              <a:rPr sz="1400"/>
              <a:t>🚨 Explainable Triage: Calculates a 0–100 Rescue Priority Score, transparently categorizing items into RESCUE NOW, USE SOON, or STABLE.</a:t>
            </a:r>
            <a:endParaRPr sz="1400"/>
          </a:p>
          <a:p>
            <a:pPr>
              <a:spcAft>
                <a:spcPts val="800"/>
              </a:spcAft>
              <a:defRPr sz="1000" b="0">
                <a:solidFill>
                  <a:srgbClr val="14B8A6"/>
                </a:solidFill>
                <a:latin typeface="Arial"/>
              </a:defRPr>
            </a:pPr>
            <a:r>
              <a:rPr sz="1400"/>
              <a:t>🍳 Instant Action Agent: Generates targeted, fast recipes utilizing expiring items, supported by a resilient offline fallback knowledge base.</a:t>
            </a:r>
            <a:endParaRPr sz="1400"/>
          </a:p>
        </p:txBody>
      </p:sp>
      <p:sp>
        <p:nvSpPr>
          <p:cNvPr id="1557745483" name="Rounded Rectangle 6"/>
          <p:cNvSpPr/>
          <p:nvPr/>
        </p:nvSpPr>
        <p:spPr bwMode="auto">
          <a:xfrm>
            <a:off x="6217920" y="1463040"/>
            <a:ext cx="5608015" cy="4754880"/>
          </a:xfrm>
          <a:prstGeom prst="roundRect">
            <a:avLst>
              <a:gd name="adj" fmla="val 16667"/>
            </a:avLst>
          </a:prstGeom>
          <a:solidFill>
            <a:srgbClr val="1F293D"/>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pic>
        <p:nvPicPr>
          <p:cNvPr id="1556383610" name="Picture 7" descr="scanner_hero_screen.png"/>
          <p:cNvPicPr>
            <a:picLocks noChangeAspect="1"/>
          </p:cNvPicPr>
          <p:nvPr/>
        </p:nvPicPr>
        <p:blipFill rotWithShape="1">
          <a:blip r:embed="rId3"/>
          <a:stretch/>
        </p:blipFill>
        <p:spPr bwMode="auto">
          <a:xfrm flipH="0" flipV="0">
            <a:off x="6490103" y="1797473"/>
            <a:ext cx="5063647" cy="4018364"/>
          </a:xfrm>
          <a:prstGeom prst="rect">
            <a:avLst/>
          </a:prstGeom>
        </p:spPr>
      </p:pic>
      <p:sp>
        <p:nvSpPr>
          <p:cNvPr id="1910303456" name="TextBox 8"/>
          <p:cNvSpPr txBox="1"/>
          <p:nvPr/>
        </p:nvSpPr>
        <p:spPr bwMode="auto">
          <a:xfrm>
            <a:off x="6291072" y="5925312"/>
            <a:ext cx="5464950" cy="167999"/>
          </a:xfrm>
          <a:prstGeom prst="rect">
            <a:avLst/>
          </a:prstGeom>
          <a:noFill/>
        </p:spPr>
        <p:txBody>
          <a:bodyPr wrap="square" lIns="0" tIns="0" rIns="0" bIns="0">
            <a:spAutoFit/>
          </a:bodyPr>
          <a:lstStyle/>
          <a:p>
            <a:pPr algn="ctr">
              <a:defRPr sz="850">
                <a:solidFill>
                  <a:srgbClr val="94A3B8"/>
                </a:solidFill>
                <a:latin typeface="Arial"/>
              </a:defRPr>
            </a:pPr>
            <a:r>
              <a:rPr sz="1100"/>
              <a:t>Live Web UI: Frictionless photo dropzone with pre-bundled demo samples</a:t>
            </a:r>
            <a:endParaRPr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224561" name="Rectangle 1"/>
          <p:cNvSpPr/>
          <p:nvPr/>
        </p:nvSpPr>
        <p:spPr bwMode="auto">
          <a:xfrm>
            <a:off x="0" y="0"/>
            <a:ext cx="12191695" cy="6858000"/>
          </a:xfrm>
          <a:prstGeom prst="rect">
            <a:avLst/>
          </a:prstGeom>
          <a:solidFill>
            <a:srgbClr val="0C1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99343446" name="TextBox 2"/>
          <p:cNvSpPr txBox="1"/>
          <p:nvPr/>
        </p:nvSpPr>
        <p:spPr bwMode="auto">
          <a:xfrm>
            <a:off x="731520" y="365760"/>
            <a:ext cx="10731174" cy="183240"/>
          </a:xfrm>
          <a:prstGeom prst="rect">
            <a:avLst/>
          </a:prstGeom>
          <a:noFill/>
        </p:spPr>
        <p:txBody>
          <a:bodyPr wrap="square" lIns="0" tIns="0" rIns="0" bIns="0">
            <a:spAutoFit/>
          </a:bodyPr>
          <a:lstStyle/>
          <a:p>
            <a:pPr>
              <a:defRPr sz="950" b="1">
                <a:solidFill>
                  <a:srgbClr val="10B981"/>
                </a:solidFill>
                <a:latin typeface="Arial"/>
              </a:defRPr>
            </a:pPr>
            <a:r>
              <a:rPr sz="1200"/>
              <a:t>IBM SKILLSBUILD MASTERCLASS | REAL-LIFE PROJECTS   •   SLIDE 04 / 10</a:t>
            </a:r>
            <a:endParaRPr sz="1200"/>
          </a:p>
        </p:txBody>
      </p:sp>
      <p:sp>
        <p:nvSpPr>
          <p:cNvPr id="900933468" name="TextBox 3"/>
          <p:cNvSpPr txBox="1"/>
          <p:nvPr/>
        </p:nvSpPr>
        <p:spPr bwMode="auto">
          <a:xfrm>
            <a:off x="731520" y="658368"/>
            <a:ext cx="10730454" cy="427079"/>
          </a:xfrm>
          <a:prstGeom prst="rect">
            <a:avLst/>
          </a:prstGeom>
          <a:noFill/>
        </p:spPr>
        <p:txBody>
          <a:bodyPr wrap="square" lIns="0" tIns="0" rIns="0" bIns="0">
            <a:spAutoFit/>
          </a:bodyPr>
          <a:lstStyle/>
          <a:p>
            <a:pPr>
              <a:defRPr sz="2200" b="1">
                <a:solidFill>
                  <a:srgbClr val="F8FAFC"/>
                </a:solidFill>
                <a:latin typeface="Arial"/>
              </a:defRPr>
            </a:pPr>
            <a:r>
              <a:rPr sz="2800"/>
              <a:t>End-to-End Multimodal Architecture &amp; Workflow</a:t>
            </a:r>
            <a:endParaRPr sz="2800"/>
          </a:p>
        </p:txBody>
      </p:sp>
      <p:sp>
        <p:nvSpPr>
          <p:cNvPr id="1623313968" name="Rounded Rectangle 4"/>
          <p:cNvSpPr/>
          <p:nvPr/>
        </p:nvSpPr>
        <p:spPr bwMode="auto">
          <a:xfrm>
            <a:off x="731520" y="1463040"/>
            <a:ext cx="2029968"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747373012" name="Rectangle 5"/>
          <p:cNvSpPr/>
          <p:nvPr/>
        </p:nvSpPr>
        <p:spPr bwMode="auto">
          <a:xfrm>
            <a:off x="731520" y="1463040"/>
            <a:ext cx="2029968"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631448113" name="TextBox 6"/>
          <p:cNvSpPr txBox="1"/>
          <p:nvPr/>
        </p:nvSpPr>
        <p:spPr bwMode="auto">
          <a:xfrm>
            <a:off x="841248" y="1627632"/>
            <a:ext cx="1812311" cy="2575919"/>
          </a:xfrm>
          <a:prstGeom prst="rect">
            <a:avLst/>
          </a:prstGeom>
          <a:noFill/>
        </p:spPr>
        <p:txBody>
          <a:bodyPr wrap="square">
            <a:spAutoFit/>
          </a:bodyPr>
          <a:lstStyle/>
          <a:p>
            <a:pPr>
              <a:defRPr sz="900" b="1">
                <a:solidFill>
                  <a:srgbClr val="3B82F6"/>
                </a:solidFill>
                <a:latin typeface="Arial"/>
              </a:defRPr>
            </a:pPr>
            <a:r>
              <a:rPr sz="1200"/>
              <a:t>STAGE 1: INPUT</a:t>
            </a:r>
            <a:endParaRPr sz="1200"/>
          </a:p>
          <a:p>
            <a:pPr>
              <a:spcAft>
                <a:spcPts val="800"/>
              </a:spcAft>
              <a:defRPr sz="1150" b="1">
                <a:solidFill>
                  <a:srgbClr val="F8FAFC"/>
                </a:solidFill>
                <a:latin typeface="Arial"/>
              </a:defRPr>
            </a:pPr>
            <a:r>
              <a:rPr sz="1600"/>
              <a:t>Photo Ingestion</a:t>
            </a:r>
            <a:endParaRPr sz="1600"/>
          </a:p>
          <a:p>
            <a:pPr>
              <a:spcAft>
                <a:spcPts val="500"/>
              </a:spcAft>
              <a:defRPr sz="900">
                <a:solidFill>
                  <a:srgbClr val="CBD5E1"/>
                </a:solidFill>
                <a:latin typeface="Arial"/>
              </a:defRPr>
            </a:pPr>
            <a:r>
              <a:rPr sz="1200"/>
              <a:t>• User uploads a smartphone photo of open fridge shelves.</a:t>
            </a:r>
            <a:endParaRPr sz="1200"/>
          </a:p>
          <a:p>
            <a:pPr>
              <a:spcAft>
                <a:spcPts val="500"/>
              </a:spcAft>
              <a:defRPr sz="900">
                <a:solidFill>
                  <a:srgbClr val="CBD5E1"/>
                </a:solidFill>
                <a:latin typeface="Arial"/>
              </a:defRPr>
            </a:pPr>
            <a:r>
              <a:rPr sz="1200"/>
              <a:t>• FastAPI endpoint handles resolution normalization &amp; lighting variations.</a:t>
            </a:r>
            <a:endParaRPr sz="1200"/>
          </a:p>
          <a:p>
            <a:pPr>
              <a:spcAft>
                <a:spcPts val="500"/>
              </a:spcAft>
              <a:defRPr sz="900">
                <a:solidFill>
                  <a:srgbClr val="CBD5E1"/>
                </a:solidFill>
                <a:latin typeface="Arial"/>
              </a:defRPr>
            </a:pPr>
            <a:r>
              <a:rPr sz="1200"/>
              <a:t>• Pre-bundled demo samples enable 1-click evaluation.</a:t>
            </a:r>
            <a:endParaRPr sz="1200"/>
          </a:p>
        </p:txBody>
      </p:sp>
      <p:sp>
        <p:nvSpPr>
          <p:cNvPr id="2054276679" name="Rounded Rectangle 7"/>
          <p:cNvSpPr/>
          <p:nvPr/>
        </p:nvSpPr>
        <p:spPr bwMode="auto">
          <a:xfrm>
            <a:off x="2898648" y="1463040"/>
            <a:ext cx="2029968"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928765246" name="Rectangle 8"/>
          <p:cNvSpPr/>
          <p:nvPr/>
        </p:nvSpPr>
        <p:spPr bwMode="auto">
          <a:xfrm>
            <a:off x="2898648" y="1463040"/>
            <a:ext cx="2029968"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295674766" name="TextBox 9"/>
          <p:cNvSpPr txBox="1"/>
          <p:nvPr/>
        </p:nvSpPr>
        <p:spPr bwMode="auto">
          <a:xfrm>
            <a:off x="3008376" y="1627632"/>
            <a:ext cx="1812311" cy="3249019"/>
          </a:xfrm>
          <a:prstGeom prst="rect">
            <a:avLst/>
          </a:prstGeom>
          <a:noFill/>
        </p:spPr>
        <p:txBody>
          <a:bodyPr wrap="square">
            <a:spAutoFit/>
          </a:bodyPr>
          <a:lstStyle/>
          <a:p>
            <a:pPr>
              <a:defRPr sz="900" b="1">
                <a:solidFill>
                  <a:srgbClr val="14B8A6"/>
                </a:solidFill>
                <a:latin typeface="Arial"/>
              </a:defRPr>
            </a:pPr>
            <a:r>
              <a:rPr sz="1200"/>
              <a:t>STAGE 2: DETECT</a:t>
            </a:r>
            <a:endParaRPr sz="1200"/>
          </a:p>
          <a:p>
            <a:pPr>
              <a:spcAft>
                <a:spcPts val="800"/>
              </a:spcAft>
              <a:defRPr sz="1150" b="1">
                <a:solidFill>
                  <a:srgbClr val="F8FAFC"/>
                </a:solidFill>
                <a:latin typeface="Arial"/>
              </a:defRPr>
            </a:pPr>
            <a:r>
              <a:rPr sz="1600"/>
              <a:t>YOLO11n Detection</a:t>
            </a:r>
            <a:endParaRPr sz="1600"/>
          </a:p>
          <a:p>
            <a:pPr>
              <a:spcAft>
                <a:spcPts val="500"/>
              </a:spcAft>
              <a:defRPr sz="900">
                <a:solidFill>
                  <a:srgbClr val="CBD5E1"/>
                </a:solidFill>
                <a:latin typeface="Arial"/>
              </a:defRPr>
            </a:pPr>
            <a:r>
              <a:rPr sz="1200"/>
              <a:t>• Fine-tuned on 3,049 Northumbria Smart Fridge images.</a:t>
            </a:r>
            <a:endParaRPr sz="1200"/>
          </a:p>
          <a:p>
            <a:pPr>
              <a:spcAft>
                <a:spcPts val="500"/>
              </a:spcAft>
              <a:defRPr sz="900">
                <a:solidFill>
                  <a:srgbClr val="CBD5E1"/>
                </a:solidFill>
                <a:latin typeface="Arial"/>
              </a:defRPr>
            </a:pPr>
            <a:r>
              <a:rPr sz="1200"/>
              <a:t>• Detects 30 grocery classes across produce, dairy, bakery, meat, pantry.</a:t>
            </a:r>
            <a:endParaRPr sz="1200"/>
          </a:p>
          <a:p>
            <a:pPr>
              <a:spcAft>
                <a:spcPts val="500"/>
              </a:spcAft>
              <a:defRPr sz="900">
                <a:solidFill>
                  <a:srgbClr val="CBD5E1"/>
                </a:solidFill>
                <a:latin typeface="Arial"/>
              </a:defRPr>
            </a:pPr>
            <a:r>
              <a:rPr sz="1200"/>
              <a:t>• Achieves 93.12% Precision and 93.94% mAP@50.</a:t>
            </a:r>
            <a:endParaRPr sz="1200"/>
          </a:p>
          <a:p>
            <a:pPr>
              <a:spcAft>
                <a:spcPts val="500"/>
              </a:spcAft>
              <a:defRPr sz="900">
                <a:solidFill>
                  <a:srgbClr val="CBD5E1"/>
                </a:solidFill>
                <a:latin typeface="Arial"/>
              </a:defRPr>
            </a:pPr>
            <a:r>
              <a:rPr sz="1200"/>
              <a:t>• Generates labeled bounding crops.</a:t>
            </a:r>
            <a:endParaRPr sz="1200"/>
          </a:p>
        </p:txBody>
      </p:sp>
      <p:sp>
        <p:nvSpPr>
          <p:cNvPr id="1576684973" name="Rounded Rectangle 10"/>
          <p:cNvSpPr/>
          <p:nvPr/>
        </p:nvSpPr>
        <p:spPr bwMode="auto">
          <a:xfrm>
            <a:off x="5065776" y="1463040"/>
            <a:ext cx="2029968"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371129935" name="Rectangle 11"/>
          <p:cNvSpPr/>
          <p:nvPr/>
        </p:nvSpPr>
        <p:spPr bwMode="auto">
          <a:xfrm>
            <a:off x="5065776" y="1463040"/>
            <a:ext cx="2029968"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2142409673" name="TextBox 12"/>
          <p:cNvSpPr txBox="1"/>
          <p:nvPr/>
        </p:nvSpPr>
        <p:spPr bwMode="auto">
          <a:xfrm>
            <a:off x="5175504" y="1627632"/>
            <a:ext cx="1812311" cy="2636879"/>
          </a:xfrm>
          <a:prstGeom prst="rect">
            <a:avLst/>
          </a:prstGeom>
          <a:noFill/>
        </p:spPr>
        <p:txBody>
          <a:bodyPr wrap="square">
            <a:spAutoFit/>
          </a:bodyPr>
          <a:lstStyle/>
          <a:p>
            <a:pPr>
              <a:defRPr sz="900" b="1">
                <a:solidFill>
                  <a:srgbClr val="F59E0B"/>
                </a:solidFill>
                <a:latin typeface="Arial"/>
              </a:defRPr>
            </a:pPr>
            <a:r>
              <a:rPr sz="1200"/>
              <a:t>STAGE 3: DIAGNOSE</a:t>
            </a:r>
            <a:endParaRPr sz="1200"/>
          </a:p>
          <a:p>
            <a:pPr>
              <a:spcAft>
                <a:spcPts val="800"/>
              </a:spcAft>
              <a:defRPr sz="1150" b="1">
                <a:solidFill>
                  <a:srgbClr val="F8FAFC"/>
                </a:solidFill>
                <a:latin typeface="Arial"/>
              </a:defRPr>
            </a:pPr>
            <a:r>
              <a:rPr sz="1600"/>
              <a:t>Dual-Signal Quality</a:t>
            </a:r>
            <a:endParaRPr sz="1600"/>
          </a:p>
          <a:p>
            <a:pPr>
              <a:spcAft>
                <a:spcPts val="500"/>
              </a:spcAft>
              <a:defRPr sz="900">
                <a:solidFill>
                  <a:srgbClr val="CBD5E1"/>
                </a:solidFill>
                <a:latin typeface="Arial"/>
              </a:defRPr>
            </a:pPr>
            <a:r>
              <a:rPr sz="1200"/>
              <a:t>• Produce Crops: MobileNetV3 assesses surface condition (fresh vs stale).</a:t>
            </a:r>
            <a:endParaRPr sz="1200"/>
          </a:p>
          <a:p>
            <a:pPr>
              <a:spcAft>
                <a:spcPts val="500"/>
              </a:spcAft>
              <a:defRPr sz="900">
                <a:solidFill>
                  <a:srgbClr val="CBD5E1"/>
                </a:solidFill>
                <a:latin typeface="Arial"/>
              </a:defRPr>
            </a:pPr>
            <a:r>
              <a:rPr sz="1200"/>
              <a:t>• Packaged Dairy / Meat: EasyOCR scans Best Before / EXP text.</a:t>
            </a:r>
            <a:endParaRPr sz="1200"/>
          </a:p>
          <a:p>
            <a:pPr>
              <a:spcAft>
                <a:spcPts val="500"/>
              </a:spcAft>
              <a:defRPr sz="900">
                <a:solidFill>
                  <a:srgbClr val="CBD5E1"/>
                </a:solidFill>
                <a:latin typeface="Arial"/>
              </a:defRPr>
            </a:pPr>
            <a:r>
              <a:rPr sz="1200"/>
              <a:t>• Calculates exact days remaining.</a:t>
            </a:r>
            <a:endParaRPr sz="1200"/>
          </a:p>
        </p:txBody>
      </p:sp>
      <p:sp>
        <p:nvSpPr>
          <p:cNvPr id="2107369705" name="Rounded Rectangle 13"/>
          <p:cNvSpPr/>
          <p:nvPr/>
        </p:nvSpPr>
        <p:spPr bwMode="auto">
          <a:xfrm>
            <a:off x="7232904" y="1463040"/>
            <a:ext cx="2029968"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643712820" name="Rectangle 14"/>
          <p:cNvSpPr/>
          <p:nvPr/>
        </p:nvSpPr>
        <p:spPr bwMode="auto">
          <a:xfrm>
            <a:off x="7232904" y="1463040"/>
            <a:ext cx="2029968"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445457978" name="TextBox 15"/>
          <p:cNvSpPr txBox="1"/>
          <p:nvPr/>
        </p:nvSpPr>
        <p:spPr bwMode="auto">
          <a:xfrm>
            <a:off x="7342632" y="1627632"/>
            <a:ext cx="1812311" cy="2819759"/>
          </a:xfrm>
          <a:prstGeom prst="rect">
            <a:avLst/>
          </a:prstGeom>
          <a:noFill/>
        </p:spPr>
        <p:txBody>
          <a:bodyPr wrap="square">
            <a:spAutoFit/>
          </a:bodyPr>
          <a:lstStyle/>
          <a:p>
            <a:pPr>
              <a:defRPr sz="900" b="1">
                <a:solidFill>
                  <a:srgbClr val="F43F5E"/>
                </a:solidFill>
                <a:latin typeface="Arial"/>
              </a:defRPr>
            </a:pPr>
            <a:r>
              <a:rPr sz="1200"/>
              <a:t>STAGE 4: TRIAGE</a:t>
            </a:r>
            <a:endParaRPr sz="1200"/>
          </a:p>
          <a:p>
            <a:pPr>
              <a:spcAft>
                <a:spcPts val="800"/>
              </a:spcAft>
              <a:defRPr sz="1150" b="1">
                <a:solidFill>
                  <a:srgbClr val="F8FAFC"/>
                </a:solidFill>
                <a:latin typeface="Arial"/>
              </a:defRPr>
            </a:pPr>
            <a:r>
              <a:rPr sz="1600"/>
              <a:t>Rescue Priority Engine</a:t>
            </a:r>
            <a:endParaRPr sz="1600"/>
          </a:p>
          <a:p>
            <a:pPr>
              <a:spcAft>
                <a:spcPts val="500"/>
              </a:spcAft>
              <a:defRPr sz="900">
                <a:solidFill>
                  <a:srgbClr val="CBD5E1"/>
                </a:solidFill>
                <a:latin typeface="Arial"/>
              </a:defRPr>
            </a:pPr>
            <a:r>
              <a:rPr sz="1200"/>
              <a:t>• Synthesizes freshness, expiry proximity, perishability, and surplus volume.</a:t>
            </a:r>
            <a:endParaRPr sz="1200"/>
          </a:p>
          <a:p>
            <a:pPr>
              <a:spcAft>
                <a:spcPts val="500"/>
              </a:spcAft>
              <a:defRPr sz="900">
                <a:solidFill>
                  <a:srgbClr val="CBD5E1"/>
                </a:solidFill>
                <a:latin typeface="Arial"/>
              </a:defRPr>
            </a:pPr>
            <a:r>
              <a:rPr sz="1200"/>
              <a:t>• Outputs transparent 0–100 score.</a:t>
            </a:r>
            <a:endParaRPr sz="1200"/>
          </a:p>
          <a:p>
            <a:pPr>
              <a:spcAft>
                <a:spcPts val="500"/>
              </a:spcAft>
              <a:defRPr sz="900">
                <a:solidFill>
                  <a:srgbClr val="CBD5E1"/>
                </a:solidFill>
                <a:latin typeface="Arial"/>
              </a:defRPr>
            </a:pPr>
            <a:r>
              <a:rPr sz="1200"/>
              <a:t>• Categorizes into RESCUE NOW (&gt;=60), USE SOON (35-59), STABLE (&lt;35).</a:t>
            </a:r>
            <a:endParaRPr sz="1200"/>
          </a:p>
        </p:txBody>
      </p:sp>
      <p:sp>
        <p:nvSpPr>
          <p:cNvPr id="850290701" name="Rounded Rectangle 16"/>
          <p:cNvSpPr/>
          <p:nvPr/>
        </p:nvSpPr>
        <p:spPr bwMode="auto">
          <a:xfrm>
            <a:off x="9400032" y="1463040"/>
            <a:ext cx="2029968"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683632349" name="Rectangle 17"/>
          <p:cNvSpPr/>
          <p:nvPr/>
        </p:nvSpPr>
        <p:spPr bwMode="auto">
          <a:xfrm>
            <a:off x="9400032" y="1463040"/>
            <a:ext cx="2029968"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821304801" name="TextBox 18"/>
          <p:cNvSpPr txBox="1"/>
          <p:nvPr/>
        </p:nvSpPr>
        <p:spPr bwMode="auto">
          <a:xfrm>
            <a:off x="9509760" y="1627632"/>
            <a:ext cx="1812311" cy="2819759"/>
          </a:xfrm>
          <a:prstGeom prst="rect">
            <a:avLst/>
          </a:prstGeom>
          <a:noFill/>
        </p:spPr>
        <p:txBody>
          <a:bodyPr wrap="square">
            <a:spAutoFit/>
          </a:bodyPr>
          <a:lstStyle/>
          <a:p>
            <a:pPr>
              <a:defRPr sz="900" b="1">
                <a:solidFill>
                  <a:srgbClr val="10B981"/>
                </a:solidFill>
                <a:latin typeface="Arial"/>
              </a:defRPr>
            </a:pPr>
            <a:r>
              <a:rPr sz="1200"/>
              <a:t>STAGE 5: RESCUE</a:t>
            </a:r>
            <a:endParaRPr sz="1200"/>
          </a:p>
          <a:p>
            <a:pPr>
              <a:spcAft>
                <a:spcPts val="800"/>
              </a:spcAft>
              <a:defRPr sz="1150" b="1">
                <a:solidFill>
                  <a:srgbClr val="F8FAFC"/>
                </a:solidFill>
                <a:latin typeface="Arial"/>
              </a:defRPr>
            </a:pPr>
            <a:r>
              <a:rPr sz="1600"/>
              <a:t>Action Agent &amp; SQLite</a:t>
            </a:r>
            <a:endParaRPr sz="1600"/>
          </a:p>
          <a:p>
            <a:pPr>
              <a:spcAft>
                <a:spcPts val="500"/>
              </a:spcAft>
              <a:defRPr sz="900">
                <a:solidFill>
                  <a:srgbClr val="CBD5E1"/>
                </a:solidFill>
                <a:latin typeface="Arial"/>
              </a:defRPr>
            </a:pPr>
            <a:r>
              <a:rPr sz="1200"/>
              <a:t>• Recommends practical zero-waste meal concepts to cook tonight.</a:t>
            </a:r>
            <a:endParaRPr sz="1200"/>
          </a:p>
          <a:p>
            <a:pPr>
              <a:spcAft>
                <a:spcPts val="500"/>
              </a:spcAft>
              <a:defRPr sz="900">
                <a:solidFill>
                  <a:srgbClr val="CBD5E1"/>
                </a:solidFill>
                <a:latin typeface="Arial"/>
              </a:defRPr>
            </a:pPr>
            <a:r>
              <a:rPr sz="1200"/>
              <a:t>• Resilient offline recipe database if API keys are missing.</a:t>
            </a:r>
            <a:endParaRPr sz="1200"/>
          </a:p>
          <a:p>
            <a:pPr>
              <a:spcAft>
                <a:spcPts val="500"/>
              </a:spcAft>
              <a:defRPr sz="900">
                <a:solidFill>
                  <a:srgbClr val="CBD5E1"/>
                </a:solidFill>
                <a:latin typeface="Arial"/>
              </a:defRPr>
            </a:pPr>
            <a:r>
              <a:rPr sz="1200"/>
              <a:t>• Persists inventory &amp; user audit trail in fridge_rescue.db.</a:t>
            </a: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8810014" name="Rectangle 1"/>
          <p:cNvSpPr/>
          <p:nvPr/>
        </p:nvSpPr>
        <p:spPr bwMode="auto">
          <a:xfrm>
            <a:off x="0" y="0"/>
            <a:ext cx="12191695" cy="6858000"/>
          </a:xfrm>
          <a:prstGeom prst="rect">
            <a:avLst/>
          </a:prstGeom>
          <a:solidFill>
            <a:srgbClr val="0C1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00962878" name="TextBox 2"/>
          <p:cNvSpPr txBox="1"/>
          <p:nvPr/>
        </p:nvSpPr>
        <p:spPr bwMode="auto">
          <a:xfrm>
            <a:off x="731520" y="365760"/>
            <a:ext cx="10732614" cy="183240"/>
          </a:xfrm>
          <a:prstGeom prst="rect">
            <a:avLst/>
          </a:prstGeom>
          <a:noFill/>
        </p:spPr>
        <p:txBody>
          <a:bodyPr wrap="square" lIns="0" tIns="0" rIns="0" bIns="0">
            <a:spAutoFit/>
          </a:bodyPr>
          <a:lstStyle/>
          <a:p>
            <a:pPr>
              <a:defRPr sz="950" b="1">
                <a:solidFill>
                  <a:srgbClr val="10B981"/>
                </a:solidFill>
                <a:latin typeface="Arial"/>
              </a:defRPr>
            </a:pPr>
            <a:r>
              <a:rPr sz="1200"/>
              <a:t>IBM SKILLSBUILD MASTERCLASS | REAL-LIFE PROJECTS   •   SLIDE 05 / 10</a:t>
            </a:r>
            <a:endParaRPr sz="1200"/>
          </a:p>
        </p:txBody>
      </p:sp>
      <p:sp>
        <p:nvSpPr>
          <p:cNvPr id="1091256805" name="TextBox 3"/>
          <p:cNvSpPr txBox="1"/>
          <p:nvPr/>
        </p:nvSpPr>
        <p:spPr bwMode="auto">
          <a:xfrm>
            <a:off x="731520" y="658368"/>
            <a:ext cx="10731894" cy="427079"/>
          </a:xfrm>
          <a:prstGeom prst="rect">
            <a:avLst/>
          </a:prstGeom>
          <a:noFill/>
        </p:spPr>
        <p:txBody>
          <a:bodyPr wrap="square" lIns="0" tIns="0" rIns="0" bIns="0">
            <a:spAutoFit/>
          </a:bodyPr>
          <a:lstStyle/>
          <a:p>
            <a:pPr>
              <a:defRPr sz="2200" b="1">
                <a:solidFill>
                  <a:srgbClr val="F8FAFC"/>
                </a:solidFill>
                <a:latin typeface="Arial"/>
              </a:defRPr>
            </a:pPr>
            <a:r>
              <a:rPr sz="2800"/>
              <a:t>Mandatory Datasets &amp; Real Empirical Results</a:t>
            </a:r>
            <a:endParaRPr sz="2800"/>
          </a:p>
        </p:txBody>
      </p:sp>
      <p:sp>
        <p:nvSpPr>
          <p:cNvPr id="1661194225" name="Rounded Rectangle 4"/>
          <p:cNvSpPr/>
          <p:nvPr/>
        </p:nvSpPr>
        <p:spPr bwMode="auto">
          <a:xfrm flipH="0" flipV="0">
            <a:off x="731520" y="1463040"/>
            <a:ext cx="4751729"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044906665" name="TextBox 5"/>
          <p:cNvSpPr txBox="1"/>
          <p:nvPr/>
        </p:nvSpPr>
        <p:spPr bwMode="auto">
          <a:xfrm flipH="0" flipV="0">
            <a:off x="1020084" y="1857586"/>
            <a:ext cx="4174599" cy="3619859"/>
          </a:xfrm>
          <a:prstGeom prst="rect">
            <a:avLst/>
          </a:prstGeom>
          <a:noFill/>
        </p:spPr>
        <p:txBody>
          <a:bodyPr wrap="square">
            <a:spAutoFit/>
          </a:bodyPr>
          <a:lstStyle/>
          <a:p>
            <a:pPr>
              <a:spcAft>
                <a:spcPts val="600"/>
              </a:spcAft>
              <a:defRPr sz="1300" b="1">
                <a:solidFill>
                  <a:srgbClr val="14B8A6"/>
                </a:solidFill>
                <a:latin typeface="Arial"/>
              </a:defRPr>
            </a:pPr>
            <a:r>
              <a:rPr sz="1800"/>
              <a:t>MODEL 1: FOOD DETECTION (YOLO11n)</a:t>
            </a:r>
            <a:endParaRPr sz="1800"/>
          </a:p>
          <a:p>
            <a:pPr>
              <a:spcAft>
                <a:spcPts val="300"/>
              </a:spcAft>
              <a:defRPr sz="950" b="0">
                <a:solidFill>
                  <a:srgbClr val="F8FAFC"/>
                </a:solidFill>
                <a:latin typeface="Arial"/>
              </a:defRPr>
            </a:pPr>
            <a:r>
              <a:rPr sz="1200"/>
              <a:t>Dataset: Smart Refrigerator (Northumbria University Newcastle)</a:t>
            </a:r>
            <a:endParaRPr sz="1200"/>
          </a:p>
          <a:p>
            <a:pPr>
              <a:spcAft>
                <a:spcPts val="300"/>
              </a:spcAft>
              <a:defRPr sz="950" b="0">
                <a:solidFill>
                  <a:srgbClr val="F8FAFC"/>
                </a:solidFill>
                <a:latin typeface="Arial"/>
              </a:defRPr>
            </a:pPr>
            <a:r>
              <a:rPr sz="1200"/>
              <a:t>Source &amp; License: Roboflow Universe  |  CC BY 4.0 Attribution</a:t>
            </a:r>
            <a:endParaRPr sz="1200"/>
          </a:p>
          <a:p>
            <a:pPr>
              <a:spcAft>
                <a:spcPts val="300"/>
              </a:spcAft>
              <a:defRPr sz="950" b="0">
                <a:solidFill>
                  <a:srgbClr val="F8FAFC"/>
                </a:solidFill>
                <a:latin typeface="Arial"/>
              </a:defRPr>
            </a:pPr>
            <a:r>
              <a:rPr sz="1200"/>
              <a:t>Dataset Volume: 3,049 Refrigerator Images  |  30 Food Classes</a:t>
            </a:r>
            <a:endParaRPr sz="1200"/>
          </a:p>
          <a:p>
            <a:pPr>
              <a:spcAft>
                <a:spcPts val="300"/>
              </a:spcAft>
              <a:defRPr sz="950" b="0">
                <a:solidFill>
                  <a:srgbClr val="F8FAFC"/>
                </a:solidFill>
                <a:latin typeface="Arial"/>
              </a:defRPr>
            </a:pPr>
            <a:r>
              <a:rPr sz="1200"/>
              <a:t>Architecture: Ultralytics YOLO11n (2.59M parameters fine-tuned)</a:t>
            </a:r>
            <a:endParaRPr sz="1200"/>
          </a:p>
          <a:p>
            <a:pPr>
              <a:spcAft>
                <a:spcPts val="300"/>
              </a:spcAft>
              <a:defRPr sz="950" b="0">
                <a:solidFill>
                  <a:srgbClr val="F8FAFC"/>
                </a:solidFill>
                <a:latin typeface="Arial"/>
              </a:defRPr>
            </a:pPr>
            <a:r>
              <a:rPr sz="1200"/>
              <a:t>Input Resolution: 640 × 640 pixels (RGB)</a:t>
            </a:r>
            <a:endParaRPr sz="1200"/>
          </a:p>
          <a:p>
            <a:pPr>
              <a:spcAft>
                <a:spcPts val="300"/>
              </a:spcAft>
              <a:defRPr sz="950" b="0">
                <a:solidFill>
                  <a:srgbClr val="F8FAFC"/>
                </a:solidFill>
                <a:latin typeface="Arial"/>
              </a:defRPr>
            </a:pPr>
            <a:r>
              <a:rPr sz="1200"/>
              <a:t>Test Precision: 93.12% (0.9312)</a:t>
            </a:r>
            <a:endParaRPr sz="1200"/>
          </a:p>
          <a:p>
            <a:pPr>
              <a:spcAft>
                <a:spcPts val="300"/>
              </a:spcAft>
              <a:defRPr sz="950" b="0">
                <a:solidFill>
                  <a:srgbClr val="F8FAFC"/>
                </a:solidFill>
                <a:latin typeface="Arial"/>
              </a:defRPr>
            </a:pPr>
            <a:r>
              <a:rPr sz="1200"/>
              <a:t>Test Recall: 90.19% (0.9019)</a:t>
            </a:r>
            <a:endParaRPr sz="1200"/>
          </a:p>
          <a:p>
            <a:pPr>
              <a:spcAft>
                <a:spcPts val="300"/>
              </a:spcAft>
              <a:defRPr sz="950" b="0">
                <a:solidFill>
                  <a:srgbClr val="F8FAFC"/>
                </a:solidFill>
                <a:latin typeface="Arial"/>
              </a:defRPr>
            </a:pPr>
            <a:r>
              <a:rPr sz="1200"/>
              <a:t>mAP@50 Benchmark: 93.94% (0.9394)</a:t>
            </a:r>
            <a:endParaRPr sz="1200"/>
          </a:p>
          <a:p>
            <a:pPr>
              <a:spcAft>
                <a:spcPts val="300"/>
              </a:spcAft>
              <a:defRPr sz="950" b="0">
                <a:solidFill>
                  <a:srgbClr val="F8FAFC"/>
                </a:solidFill>
                <a:latin typeface="Arial"/>
              </a:defRPr>
            </a:pPr>
            <a:r>
              <a:rPr sz="1200"/>
              <a:t>mAP@50-95 Benchmark: 63.41% (0.6341)</a:t>
            </a:r>
            <a:endParaRPr sz="1200"/>
          </a:p>
          <a:p>
            <a:pPr>
              <a:spcAft>
                <a:spcPts val="300"/>
              </a:spcAft>
              <a:defRPr sz="950" b="0">
                <a:solidFill>
                  <a:srgbClr val="F8FAFC"/>
                </a:solidFill>
                <a:latin typeface="Arial"/>
              </a:defRPr>
            </a:pPr>
            <a:r>
              <a:rPr sz="1200"/>
              <a:t>Artifact Checkpoint: models/detection_best.pt</a:t>
            </a:r>
            <a:endParaRPr sz="1200"/>
          </a:p>
        </p:txBody>
      </p:sp>
      <p:sp>
        <p:nvSpPr>
          <p:cNvPr id="32993108" name="Rounded Rectangle 6"/>
          <p:cNvSpPr/>
          <p:nvPr/>
        </p:nvSpPr>
        <p:spPr bwMode="auto">
          <a:xfrm flipH="0" flipV="0">
            <a:off x="5917166" y="1463040"/>
            <a:ext cx="5421393"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23867567" name="TextBox 7"/>
          <p:cNvSpPr txBox="1"/>
          <p:nvPr/>
        </p:nvSpPr>
        <p:spPr bwMode="auto">
          <a:xfrm flipH="0" flipV="0">
            <a:off x="6329916" y="1910503"/>
            <a:ext cx="4593886" cy="3619859"/>
          </a:xfrm>
          <a:prstGeom prst="rect">
            <a:avLst/>
          </a:prstGeom>
          <a:noFill/>
        </p:spPr>
        <p:txBody>
          <a:bodyPr wrap="square">
            <a:spAutoFit/>
          </a:bodyPr>
          <a:lstStyle/>
          <a:p>
            <a:pPr>
              <a:spcAft>
                <a:spcPts val="600"/>
              </a:spcAft>
              <a:defRPr sz="1300" b="1">
                <a:solidFill>
                  <a:srgbClr val="10B981"/>
                </a:solidFill>
                <a:latin typeface="Arial"/>
              </a:defRPr>
            </a:pPr>
            <a:r>
              <a:rPr sz="1800"/>
              <a:t>MODEL 2: FRESHNESS CLASSIFIER (MobileNetV3)</a:t>
            </a:r>
            <a:endParaRPr sz="1800"/>
          </a:p>
          <a:p>
            <a:pPr>
              <a:spcAft>
                <a:spcPts val="300"/>
              </a:spcAft>
              <a:defRPr sz="950">
                <a:solidFill>
                  <a:srgbClr val="F8FAFC"/>
                </a:solidFill>
                <a:latin typeface="Arial"/>
              </a:defRPr>
            </a:pPr>
            <a:r>
              <a:rPr sz="1200"/>
              <a:t>Dataset: Fresh &amp; Stale Fruits and Veg (Raghav R. Potdar)</a:t>
            </a:r>
            <a:endParaRPr sz="1200"/>
          </a:p>
          <a:p>
            <a:pPr>
              <a:spcAft>
                <a:spcPts val="300"/>
              </a:spcAft>
              <a:defRPr sz="950">
                <a:solidFill>
                  <a:srgbClr val="F8FAFC"/>
                </a:solidFill>
                <a:latin typeface="Arial"/>
              </a:defRPr>
            </a:pPr>
            <a:r>
              <a:rPr sz="1200"/>
              <a:t>Source &amp; License: Kaggle Datasets  |  CC0 Public Domain</a:t>
            </a:r>
            <a:endParaRPr sz="1200"/>
          </a:p>
          <a:p>
            <a:pPr>
              <a:spcAft>
                <a:spcPts val="300"/>
              </a:spcAft>
              <a:defRPr sz="950">
                <a:solidFill>
                  <a:srgbClr val="F8FAFC"/>
                </a:solidFill>
                <a:latin typeface="Arial"/>
              </a:defRPr>
            </a:pPr>
            <a:r>
              <a:rPr sz="1200"/>
              <a:t>Dataset Volume: 14,682 Total Images  |  Fresh vs. Stale</a:t>
            </a:r>
            <a:endParaRPr sz="1200"/>
          </a:p>
          <a:p>
            <a:pPr>
              <a:spcAft>
                <a:spcPts val="300"/>
              </a:spcAft>
              <a:defRPr sz="950">
                <a:solidFill>
                  <a:srgbClr val="F8FAFC"/>
                </a:solidFill>
                <a:latin typeface="Arial"/>
              </a:defRPr>
            </a:pPr>
            <a:r>
              <a:rPr sz="1200"/>
              <a:t>Covered Produce: Apple, Banana, Bitter Gourd, Capsicum, Orange, Tomato</a:t>
            </a:r>
            <a:endParaRPr sz="1200"/>
          </a:p>
          <a:p>
            <a:pPr>
              <a:spcAft>
                <a:spcPts val="300"/>
              </a:spcAft>
              <a:defRPr sz="950">
                <a:solidFill>
                  <a:srgbClr val="F8FAFC"/>
                </a:solidFill>
                <a:latin typeface="Arial"/>
              </a:defRPr>
            </a:pPr>
            <a:r>
              <a:rPr sz="1200"/>
              <a:t>Architecture: PyTorch MobileNetV3-Small (Transfer Learning)</a:t>
            </a:r>
            <a:endParaRPr sz="1200"/>
          </a:p>
          <a:p>
            <a:pPr>
              <a:spcAft>
                <a:spcPts val="300"/>
              </a:spcAft>
              <a:defRPr sz="950">
                <a:solidFill>
                  <a:srgbClr val="F8FAFC"/>
                </a:solidFill>
                <a:latin typeface="Arial"/>
              </a:defRPr>
            </a:pPr>
            <a:r>
              <a:rPr sz="1200"/>
              <a:t>Input Resolution: 224 × 224 pixels with geometric data augmentation</a:t>
            </a:r>
            <a:endParaRPr sz="1200"/>
          </a:p>
          <a:p>
            <a:pPr>
              <a:spcAft>
                <a:spcPts val="300"/>
              </a:spcAft>
              <a:defRPr sz="950">
                <a:solidFill>
                  <a:srgbClr val="F8FAFC"/>
                </a:solidFill>
                <a:latin typeface="Arial"/>
              </a:defRPr>
            </a:pPr>
            <a:r>
              <a:rPr sz="1200"/>
              <a:t>Test Accuracy: 99.93% (1,469 / 1,470 correct on held-out test set)</a:t>
            </a:r>
            <a:endParaRPr sz="1200"/>
          </a:p>
          <a:p>
            <a:pPr>
              <a:spcAft>
                <a:spcPts val="300"/>
              </a:spcAft>
              <a:defRPr sz="950">
                <a:solidFill>
                  <a:srgbClr val="F8FAFC"/>
                </a:solidFill>
                <a:latin typeface="Arial"/>
              </a:defRPr>
            </a:pPr>
            <a:r>
              <a:rPr sz="1200"/>
              <a:t>Test Precision / F1: Precision: 100.0%  |  F1 Score: 99.93%</a:t>
            </a:r>
            <a:endParaRPr sz="1200"/>
          </a:p>
          <a:p>
            <a:pPr>
              <a:spcAft>
                <a:spcPts val="300"/>
              </a:spcAft>
              <a:defRPr sz="950">
                <a:solidFill>
                  <a:srgbClr val="F8FAFC"/>
                </a:solidFill>
                <a:latin typeface="Arial"/>
              </a:defRPr>
            </a:pPr>
            <a:r>
              <a:rPr sz="1200"/>
              <a:t>Confusion Matrix: [[705 Fresh correct, 0 false], [1 false stale, 764 correct]]</a:t>
            </a:r>
            <a:endParaRPr sz="1200"/>
          </a:p>
          <a:p>
            <a:pPr>
              <a:spcAft>
                <a:spcPts val="300"/>
              </a:spcAft>
              <a:defRPr sz="950">
                <a:solidFill>
                  <a:srgbClr val="F8FAFC"/>
                </a:solidFill>
                <a:latin typeface="Arial"/>
              </a:defRPr>
            </a:pPr>
            <a:r>
              <a:rPr sz="1200"/>
              <a:t>Artifact Checkpoint: models/freshness_best.pth</a:t>
            </a: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7100230" name="Rectangle 1"/>
          <p:cNvSpPr/>
          <p:nvPr/>
        </p:nvSpPr>
        <p:spPr bwMode="auto">
          <a:xfrm>
            <a:off x="0" y="0"/>
            <a:ext cx="12191695" cy="6858000"/>
          </a:xfrm>
          <a:prstGeom prst="rect">
            <a:avLst/>
          </a:prstGeom>
          <a:solidFill>
            <a:srgbClr val="0C1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2009687526" name="TextBox 2"/>
          <p:cNvSpPr txBox="1"/>
          <p:nvPr/>
        </p:nvSpPr>
        <p:spPr bwMode="auto">
          <a:xfrm>
            <a:off x="731520" y="365760"/>
            <a:ext cx="10731894" cy="183240"/>
          </a:xfrm>
          <a:prstGeom prst="rect">
            <a:avLst/>
          </a:prstGeom>
          <a:noFill/>
        </p:spPr>
        <p:txBody>
          <a:bodyPr wrap="square" lIns="0" tIns="0" rIns="0" bIns="0">
            <a:spAutoFit/>
          </a:bodyPr>
          <a:lstStyle/>
          <a:p>
            <a:pPr>
              <a:defRPr sz="950" b="1">
                <a:solidFill>
                  <a:srgbClr val="10B981"/>
                </a:solidFill>
                <a:latin typeface="Arial"/>
              </a:defRPr>
            </a:pPr>
            <a:r>
              <a:rPr sz="1200"/>
              <a:t>IBM SKILLSBUILD MASTERCLASS | REAL-LIFE PROJECTS   •   SLIDE 06 / 10</a:t>
            </a:r>
            <a:endParaRPr sz="1200"/>
          </a:p>
        </p:txBody>
      </p:sp>
      <p:sp>
        <p:nvSpPr>
          <p:cNvPr id="171140587" name="TextBox 3"/>
          <p:cNvSpPr txBox="1"/>
          <p:nvPr/>
        </p:nvSpPr>
        <p:spPr bwMode="auto">
          <a:xfrm>
            <a:off x="731520" y="658368"/>
            <a:ext cx="10734054" cy="427079"/>
          </a:xfrm>
          <a:prstGeom prst="rect">
            <a:avLst/>
          </a:prstGeom>
          <a:noFill/>
        </p:spPr>
        <p:txBody>
          <a:bodyPr wrap="square" lIns="0" tIns="0" rIns="0" bIns="0">
            <a:spAutoFit/>
          </a:bodyPr>
          <a:lstStyle/>
          <a:p>
            <a:pPr>
              <a:defRPr sz="2200" b="1">
                <a:solidFill>
                  <a:srgbClr val="F8FAFC"/>
                </a:solidFill>
                <a:latin typeface="Arial"/>
              </a:defRPr>
            </a:pPr>
            <a:r>
              <a:rPr sz="2800"/>
              <a:t>Multi-Signal Rescue Priority Decision Engine</a:t>
            </a:r>
            <a:endParaRPr sz="2800"/>
          </a:p>
        </p:txBody>
      </p:sp>
      <p:sp>
        <p:nvSpPr>
          <p:cNvPr id="1854294875" name="Rounded Rectangle 4"/>
          <p:cNvSpPr/>
          <p:nvPr/>
        </p:nvSpPr>
        <p:spPr bwMode="auto">
          <a:xfrm>
            <a:off x="731520" y="1463040"/>
            <a:ext cx="6583680"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2050000628" name="TextBox 5"/>
          <p:cNvSpPr txBox="1"/>
          <p:nvPr/>
        </p:nvSpPr>
        <p:spPr bwMode="auto">
          <a:xfrm flipH="0" flipV="0">
            <a:off x="1065953" y="1963419"/>
            <a:ext cx="5920849" cy="3523339"/>
          </a:xfrm>
          <a:prstGeom prst="rect">
            <a:avLst/>
          </a:prstGeom>
          <a:noFill/>
        </p:spPr>
        <p:txBody>
          <a:bodyPr wrap="square">
            <a:spAutoFit/>
          </a:bodyPr>
          <a:lstStyle/>
          <a:p>
            <a:pPr>
              <a:spcAft>
                <a:spcPts val="800"/>
              </a:spcAft>
              <a:defRPr sz="1300" b="1">
                <a:solidFill>
                  <a:srgbClr val="14B8A6"/>
                </a:solidFill>
                <a:latin typeface="Arial"/>
              </a:defRPr>
            </a:pPr>
            <a:r>
              <a:rPr sz="1800"/>
              <a:t>TRANSPARENT 4-SIGNAL SCORING MATRIX</a:t>
            </a:r>
            <a:endParaRPr sz="1800"/>
          </a:p>
          <a:p>
            <a:pPr>
              <a:defRPr sz="1050" b="1">
                <a:solidFill>
                  <a:srgbClr val="F8FAFC"/>
                </a:solidFill>
                <a:latin typeface="Arial"/>
              </a:defRPr>
            </a:pPr>
            <a:r>
              <a:rPr sz="1400"/>
              <a:t>1. Visual Freshness Signal (Weight: up to 45 pts)</a:t>
            </a:r>
            <a:endParaRPr sz="1400"/>
          </a:p>
          <a:p>
            <a:pPr>
              <a:spcAft>
                <a:spcPts val="500"/>
              </a:spcAft>
              <a:defRPr sz="950">
                <a:solidFill>
                  <a:srgbClr val="CBD5E1"/>
                </a:solidFill>
                <a:latin typeface="Arial"/>
              </a:defRPr>
            </a:pPr>
            <a:r>
              <a:rPr sz="1200"/>
              <a:t>Produce crops evaluated by MobileNetV3. If classified stale: +35 to +45 pts based on model confidence. Strictly limited to verified produce; unsupported items declare 'assessment unavailable' to prevent false assurances.</a:t>
            </a:r>
            <a:endParaRPr sz="1200"/>
          </a:p>
          <a:p>
            <a:pPr>
              <a:defRPr sz="1050" b="1">
                <a:solidFill>
                  <a:srgbClr val="F8FAFC"/>
                </a:solidFill>
                <a:latin typeface="Arial"/>
              </a:defRPr>
            </a:pPr>
            <a:r>
              <a:rPr sz="1400"/>
              <a:t>2. Expiry Proximity Signal (Weight: up to 50 pts)</a:t>
            </a:r>
            <a:endParaRPr sz="1400"/>
          </a:p>
          <a:p>
            <a:pPr>
              <a:spcAft>
                <a:spcPts val="500"/>
              </a:spcAft>
              <a:defRPr sz="950">
                <a:solidFill>
                  <a:srgbClr val="CBD5E1"/>
                </a:solidFill>
                <a:latin typeface="Arial"/>
              </a:defRPr>
            </a:pPr>
            <a:r>
              <a:rPr sz="1200"/>
              <a:t>Extracted via EasyOCR from packaging text ('Best Before', 'EXP'). Past date: +50 pts (Urgent check); Expiring today: +45 pts; Within 48 hours: +35 pts; Within 5 days: +20 pts.</a:t>
            </a:r>
            <a:endParaRPr sz="1200"/>
          </a:p>
          <a:p>
            <a:pPr>
              <a:defRPr sz="1050" b="1">
                <a:solidFill>
                  <a:srgbClr val="F8FAFC"/>
                </a:solidFill>
                <a:latin typeface="Arial"/>
              </a:defRPr>
            </a:pPr>
            <a:r>
              <a:rPr sz="1400"/>
              <a:t>3. Intrinsic Perishability Baseline (Weight: up to 20 pts)</a:t>
            </a:r>
            <a:endParaRPr sz="1400"/>
          </a:p>
          <a:p>
            <a:pPr>
              <a:spcAft>
                <a:spcPts val="500"/>
              </a:spcAft>
              <a:defRPr sz="950">
                <a:solidFill>
                  <a:srgbClr val="CBD5E1"/>
                </a:solidFill>
                <a:latin typeface="Arial"/>
              </a:defRPr>
            </a:pPr>
            <a:r>
              <a:rPr sz="1200"/>
              <a:t>High Decay (Leafy greens, berries, mushrooms, chicken): +20 pts.</a:t>
            </a:r>
            <a:br>
              <a:rPr sz="1200"/>
            </a:br>
            <a:r>
              <a:rPr sz="1200"/>
              <a:t>Moderate Decay (Tomatoes, bananas, bread, cheese, milk): +10 pts.</a:t>
            </a:r>
            <a:br>
              <a:rPr sz="1200"/>
            </a:br>
            <a:r>
              <a:rPr sz="1200"/>
              <a:t>Low Decay (Potatoes, apples, onions, butter): +0 pts.</a:t>
            </a:r>
            <a:endParaRPr sz="1200"/>
          </a:p>
          <a:p>
            <a:pPr>
              <a:defRPr sz="1050" b="1">
                <a:solidFill>
                  <a:srgbClr val="F8FAFC"/>
                </a:solidFill>
                <a:latin typeface="Arial"/>
              </a:defRPr>
            </a:pPr>
            <a:r>
              <a:rPr sz="1400"/>
              <a:t>4. Quantity Surplus Impact (Weight: up to 10 pts)</a:t>
            </a:r>
            <a:endParaRPr sz="1400"/>
          </a:p>
          <a:p>
            <a:pPr>
              <a:spcAft>
                <a:spcPts val="500"/>
              </a:spcAft>
              <a:defRPr sz="950">
                <a:solidFill>
                  <a:srgbClr val="CBD5E1"/>
                </a:solidFill>
                <a:latin typeface="Arial"/>
              </a:defRPr>
            </a:pPr>
            <a:r>
              <a:rPr sz="1200"/>
              <a:t>Surplus volume (&gt;= 4 units: +10 pts; &gt;= 2 units: +5 pts) flags elevated probability of household spoilage if left unmanaged.</a:t>
            </a:r>
            <a:endParaRPr sz="1200"/>
          </a:p>
        </p:txBody>
      </p:sp>
      <p:sp>
        <p:nvSpPr>
          <p:cNvPr id="1587881082" name="Rounded Rectangle 6"/>
          <p:cNvSpPr/>
          <p:nvPr/>
        </p:nvSpPr>
        <p:spPr bwMode="auto">
          <a:xfrm>
            <a:off x="7589520" y="1463040"/>
            <a:ext cx="4144975" cy="4754880"/>
          </a:xfrm>
          <a:prstGeom prst="roundRect">
            <a:avLst>
              <a:gd name="adj" fmla="val 16667"/>
            </a:avLst>
          </a:prstGeom>
          <a:solidFill>
            <a:srgbClr val="1F293D"/>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413148312" name="TextBox 7"/>
          <p:cNvSpPr txBox="1"/>
          <p:nvPr/>
        </p:nvSpPr>
        <p:spPr bwMode="auto">
          <a:xfrm>
            <a:off x="7871036" y="2062056"/>
            <a:ext cx="3690294" cy="2855811"/>
          </a:xfrm>
          <a:prstGeom prst="rect">
            <a:avLst/>
          </a:prstGeom>
          <a:noFill/>
        </p:spPr>
        <p:txBody>
          <a:bodyPr wrap="square">
            <a:spAutoFit/>
          </a:bodyPr>
          <a:lstStyle/>
          <a:p>
            <a:pPr>
              <a:spcAft>
                <a:spcPts val="1200"/>
              </a:spcAft>
              <a:defRPr sz="1300" b="1">
                <a:solidFill>
                  <a:srgbClr val="F8FAFC"/>
                </a:solidFill>
                <a:latin typeface="Arial"/>
              </a:defRPr>
            </a:pPr>
            <a:r>
              <a:rPr sz="1800"/>
              <a:t>OPERATIONAL ACTION TIERS</a:t>
            </a:r>
            <a:endParaRPr sz="1800"/>
          </a:p>
          <a:p>
            <a:pPr>
              <a:defRPr sz="1150" b="1">
                <a:solidFill>
                  <a:srgbClr val="F43F5E"/>
                </a:solidFill>
                <a:latin typeface="Arial"/>
              </a:defRPr>
            </a:pPr>
            <a:r>
              <a:rPr sz="1600"/>
              <a:t>🚨 RESCUE NOW (Score ≥ 60)</a:t>
            </a:r>
            <a:endParaRPr sz="1600"/>
          </a:p>
          <a:p>
            <a:pPr>
              <a:spcAft>
                <a:spcPts val="1200"/>
              </a:spcAft>
              <a:defRPr sz="950">
                <a:solidFill>
                  <a:srgbClr val="CBD5E1"/>
                </a:solidFill>
                <a:latin typeface="Arial"/>
              </a:defRPr>
            </a:pPr>
            <a:r>
              <a:rPr sz="1200"/>
              <a:t>Urgent culinary action needed within 24 hours. Highest priority for tonight's dinner recipes or freezer storage.</a:t>
            </a:r>
            <a:endParaRPr sz="1200"/>
          </a:p>
          <a:p>
            <a:pPr>
              <a:defRPr sz="1150" b="1">
                <a:solidFill>
                  <a:srgbClr val="F59E0B"/>
                </a:solidFill>
                <a:latin typeface="Arial"/>
              </a:defRPr>
            </a:pPr>
            <a:r>
              <a:rPr sz="1600"/>
              <a:t>⚠️ USE SOON (Score 35–59)</a:t>
            </a:r>
            <a:endParaRPr sz="1600"/>
          </a:p>
          <a:p>
            <a:pPr>
              <a:spcAft>
                <a:spcPts val="1200"/>
              </a:spcAft>
              <a:defRPr sz="950">
                <a:solidFill>
                  <a:srgbClr val="CBD5E1"/>
                </a:solidFill>
                <a:latin typeface="Arial"/>
              </a:defRPr>
            </a:pPr>
            <a:r>
              <a:rPr sz="1200"/>
              <a:t>Plan into meals over the next 2 to 3 days. Condition declining or package date approaching.</a:t>
            </a:r>
            <a:endParaRPr sz="1200"/>
          </a:p>
          <a:p>
            <a:pPr>
              <a:defRPr sz="1150" b="1">
                <a:solidFill>
                  <a:srgbClr val="10B981"/>
                </a:solidFill>
                <a:latin typeface="Arial"/>
              </a:defRPr>
            </a:pPr>
            <a:r>
              <a:rPr sz="1600"/>
              <a:t>🟢 STABLE (Score &lt; 35)</a:t>
            </a:r>
            <a:endParaRPr sz="1600"/>
          </a:p>
          <a:p>
            <a:pPr>
              <a:spcAft>
                <a:spcPts val="1200"/>
              </a:spcAft>
              <a:defRPr sz="950">
                <a:solidFill>
                  <a:srgbClr val="CBD5E1"/>
                </a:solidFill>
                <a:latin typeface="Arial"/>
              </a:defRPr>
            </a:pPr>
            <a:r>
              <a:rPr sz="1200"/>
              <a:t>Safe, sound condition under regular domestic refrigeration.</a:t>
            </a: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8891835" name="Rectangle 1"/>
          <p:cNvSpPr/>
          <p:nvPr/>
        </p:nvSpPr>
        <p:spPr bwMode="auto">
          <a:xfrm>
            <a:off x="0" y="0"/>
            <a:ext cx="12191695" cy="6858000"/>
          </a:xfrm>
          <a:prstGeom prst="rect">
            <a:avLst/>
          </a:prstGeom>
          <a:solidFill>
            <a:srgbClr val="0C1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2039592316" name="TextBox 2"/>
          <p:cNvSpPr txBox="1"/>
          <p:nvPr/>
        </p:nvSpPr>
        <p:spPr bwMode="auto">
          <a:xfrm>
            <a:off x="731520" y="365760"/>
            <a:ext cx="10730454" cy="183240"/>
          </a:xfrm>
          <a:prstGeom prst="rect">
            <a:avLst/>
          </a:prstGeom>
          <a:noFill/>
        </p:spPr>
        <p:txBody>
          <a:bodyPr wrap="square" lIns="0" tIns="0" rIns="0" bIns="0">
            <a:spAutoFit/>
          </a:bodyPr>
          <a:lstStyle/>
          <a:p>
            <a:pPr>
              <a:defRPr sz="950" b="1">
                <a:solidFill>
                  <a:srgbClr val="10B981"/>
                </a:solidFill>
                <a:latin typeface="Arial"/>
              </a:defRPr>
            </a:pPr>
            <a:r>
              <a:rPr sz="1200"/>
              <a:t>IBM SKILLSBUILD MASTERCLASS | REAL-LIFE PROJECTS   •   SLIDE 07 / 10</a:t>
            </a:r>
            <a:endParaRPr sz="1200"/>
          </a:p>
        </p:txBody>
      </p:sp>
      <p:sp>
        <p:nvSpPr>
          <p:cNvPr id="1952662187" name="TextBox 3"/>
          <p:cNvSpPr txBox="1"/>
          <p:nvPr/>
        </p:nvSpPr>
        <p:spPr bwMode="auto">
          <a:xfrm>
            <a:off x="731520" y="658368"/>
            <a:ext cx="10729734" cy="427079"/>
          </a:xfrm>
          <a:prstGeom prst="rect">
            <a:avLst/>
          </a:prstGeom>
          <a:noFill/>
        </p:spPr>
        <p:txBody>
          <a:bodyPr wrap="square" lIns="0" tIns="0" rIns="0" bIns="0">
            <a:spAutoFit/>
          </a:bodyPr>
          <a:lstStyle/>
          <a:p>
            <a:pPr>
              <a:defRPr sz="2200" b="1">
                <a:solidFill>
                  <a:srgbClr val="F8FAFC"/>
                </a:solidFill>
                <a:latin typeface="Arial"/>
              </a:defRPr>
            </a:pPr>
            <a:r>
              <a:rPr sz="2800"/>
              <a:t>Live Experience: Food Detection &amp; Urgency Triage</a:t>
            </a:r>
            <a:endParaRPr sz="2800"/>
          </a:p>
        </p:txBody>
      </p:sp>
      <p:sp>
        <p:nvSpPr>
          <p:cNvPr id="1169794575" name="Rounded Rectangle 4"/>
          <p:cNvSpPr/>
          <p:nvPr/>
        </p:nvSpPr>
        <p:spPr bwMode="auto">
          <a:xfrm>
            <a:off x="731520" y="1463040"/>
            <a:ext cx="6858000" cy="4754880"/>
          </a:xfrm>
          <a:prstGeom prst="roundRect">
            <a:avLst>
              <a:gd name="adj" fmla="val 16667"/>
            </a:avLst>
          </a:prstGeom>
          <a:solidFill>
            <a:srgbClr val="1F293D"/>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pic>
        <p:nvPicPr>
          <p:cNvPr id="2145663594" name="Picture 5" descr="results_analysis_screen.png"/>
          <p:cNvPicPr>
            <a:picLocks noChangeAspect="1"/>
          </p:cNvPicPr>
          <p:nvPr/>
        </p:nvPicPr>
        <p:blipFill rotWithShape="1">
          <a:blip r:embed="rId3"/>
          <a:stretch/>
        </p:blipFill>
        <p:spPr bwMode="auto">
          <a:xfrm flipH="0" flipV="0">
            <a:off x="1059044" y="1758893"/>
            <a:ext cx="6202951" cy="4005720"/>
          </a:xfrm>
          <a:prstGeom prst="rect">
            <a:avLst/>
          </a:prstGeom>
        </p:spPr>
      </p:pic>
      <p:sp>
        <p:nvSpPr>
          <p:cNvPr id="249620660" name="TextBox 6"/>
          <p:cNvSpPr txBox="1"/>
          <p:nvPr/>
        </p:nvSpPr>
        <p:spPr bwMode="auto">
          <a:xfrm>
            <a:off x="804672" y="5925312"/>
            <a:ext cx="6712775" cy="167999"/>
          </a:xfrm>
          <a:prstGeom prst="rect">
            <a:avLst/>
          </a:prstGeom>
          <a:noFill/>
        </p:spPr>
        <p:txBody>
          <a:bodyPr wrap="square" lIns="0" tIns="0" rIns="0" bIns="0">
            <a:spAutoFit/>
          </a:bodyPr>
          <a:lstStyle/>
          <a:p>
            <a:pPr algn="ctr">
              <a:defRPr sz="850">
                <a:solidFill>
                  <a:srgbClr val="94A3B8"/>
                </a:solidFill>
                <a:latin typeface="Arial"/>
              </a:defRPr>
            </a:pPr>
            <a:r>
              <a:rPr sz="1100"/>
              <a:t>Live Analysis: Bounding boxes on left, Freshness Feed on right, Stale Apple Sauté recipe at bottom</a:t>
            </a:r>
            <a:endParaRPr sz="1100"/>
          </a:p>
        </p:txBody>
      </p:sp>
      <p:sp>
        <p:nvSpPr>
          <p:cNvPr id="223106512" name="Rounded Rectangle 7"/>
          <p:cNvSpPr/>
          <p:nvPr/>
        </p:nvSpPr>
        <p:spPr bwMode="auto">
          <a:xfrm>
            <a:off x="7772400" y="1463040"/>
            <a:ext cx="3870655"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954100351" name="TextBox 8"/>
          <p:cNvSpPr txBox="1"/>
          <p:nvPr/>
        </p:nvSpPr>
        <p:spPr bwMode="auto">
          <a:xfrm>
            <a:off x="8001000" y="1585806"/>
            <a:ext cx="3414534" cy="4425039"/>
          </a:xfrm>
          <a:prstGeom prst="rect">
            <a:avLst/>
          </a:prstGeom>
          <a:noFill/>
        </p:spPr>
        <p:txBody>
          <a:bodyPr wrap="square">
            <a:spAutoFit/>
          </a:bodyPr>
          <a:lstStyle/>
          <a:p>
            <a:pPr>
              <a:spcAft>
                <a:spcPts val="1000"/>
              </a:spcAft>
              <a:defRPr sz="1300" b="1">
                <a:solidFill>
                  <a:srgbClr val="10B981"/>
                </a:solidFill>
                <a:latin typeface="Arial"/>
              </a:defRPr>
            </a:pPr>
            <a:r>
              <a:rPr sz="1800"/>
              <a:t>TRIAGE IN PRACTICE</a:t>
            </a:r>
            <a:endParaRPr sz="1800"/>
          </a:p>
          <a:p>
            <a:pPr>
              <a:spcAft>
                <a:spcPts val="800"/>
              </a:spcAft>
              <a:defRPr sz="1000" b="0">
                <a:solidFill>
                  <a:srgbClr val="F8FAFC"/>
                </a:solidFill>
                <a:latin typeface="Arial"/>
              </a:defRPr>
            </a:pPr>
            <a:r>
              <a:rPr sz="1400"/>
              <a:t>Visual Bounding Localization: Identifies multiple overlapping groceries (apples, spinach, ground beef, blueberries, heavy cream, butter) in domestic lighting conditions.</a:t>
            </a:r>
            <a:endParaRPr sz="1400"/>
          </a:p>
          <a:p>
            <a:pPr>
              <a:spcAft>
                <a:spcPts val="800"/>
              </a:spcAft>
              <a:defRPr sz="1000" b="0">
                <a:solidFill>
                  <a:srgbClr val="F8FAFC"/>
                </a:solidFill>
                <a:latin typeface="Arial"/>
              </a:defRPr>
            </a:pPr>
            <a:r>
              <a:rPr sz="1400"/>
              <a:t>Actionable Sorting: Flags 'Apple x 1 (USE IN NEXT 2–3 DAYS)' at the top of the feed while confirming 8 items are 'STILL FRESH'.</a:t>
            </a:r>
            <a:endParaRPr sz="1400"/>
          </a:p>
          <a:p>
            <a:pPr>
              <a:spcAft>
                <a:spcPts val="800"/>
              </a:spcAft>
              <a:defRPr sz="1000" b="0">
                <a:solidFill>
                  <a:srgbClr val="F8FAFC"/>
                </a:solidFill>
                <a:latin typeface="Arial"/>
              </a:defRPr>
            </a:pPr>
            <a:r>
              <a:rPr sz="1400"/>
              <a:t>Immediate Culinary Rescue: Automatically formulates 'Stale Apple Rescue Sauté' (10 mins, apple + butter) with zero-waste culinary hacks.</a:t>
            </a:r>
            <a:endParaRPr sz="1400"/>
          </a:p>
          <a:p>
            <a:pPr>
              <a:spcAft>
                <a:spcPts val="800"/>
              </a:spcAft>
              <a:defRPr sz="1000" b="0">
                <a:solidFill>
                  <a:srgbClr val="F8FAFC"/>
                </a:solidFill>
                <a:latin typeface="Arial"/>
              </a:defRPr>
            </a:pPr>
            <a:r>
              <a:rPr sz="1400"/>
              <a:t>Interactive Controls: Users can click [Edit] to update count/date or tap [I Used This] to immediately record a rescued item.</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0701969" name="Rectangle 1"/>
          <p:cNvSpPr/>
          <p:nvPr/>
        </p:nvSpPr>
        <p:spPr bwMode="auto">
          <a:xfrm>
            <a:off x="0" y="0"/>
            <a:ext cx="12191695" cy="6858000"/>
          </a:xfrm>
          <a:prstGeom prst="rect">
            <a:avLst/>
          </a:prstGeom>
          <a:solidFill>
            <a:srgbClr val="0C1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538766358" name="TextBox 2"/>
          <p:cNvSpPr txBox="1"/>
          <p:nvPr/>
        </p:nvSpPr>
        <p:spPr bwMode="auto">
          <a:xfrm>
            <a:off x="731520" y="365760"/>
            <a:ext cx="10730454" cy="183240"/>
          </a:xfrm>
          <a:prstGeom prst="rect">
            <a:avLst/>
          </a:prstGeom>
          <a:noFill/>
        </p:spPr>
        <p:txBody>
          <a:bodyPr wrap="square" lIns="0" tIns="0" rIns="0" bIns="0">
            <a:spAutoFit/>
          </a:bodyPr>
          <a:lstStyle/>
          <a:p>
            <a:pPr>
              <a:defRPr sz="950" b="1">
                <a:solidFill>
                  <a:srgbClr val="10B981"/>
                </a:solidFill>
                <a:latin typeface="Arial"/>
              </a:defRPr>
            </a:pPr>
            <a:r>
              <a:rPr sz="1200"/>
              <a:t>IBM SKILLSBUILD MASTERCLASS | REAL-LIFE PROJECTS   •   SLIDE 08 / 10</a:t>
            </a:r>
            <a:endParaRPr sz="1200"/>
          </a:p>
        </p:txBody>
      </p:sp>
      <p:sp>
        <p:nvSpPr>
          <p:cNvPr id="807895154" name="TextBox 3"/>
          <p:cNvSpPr txBox="1"/>
          <p:nvPr/>
        </p:nvSpPr>
        <p:spPr bwMode="auto">
          <a:xfrm>
            <a:off x="731520" y="658368"/>
            <a:ext cx="10729734" cy="427079"/>
          </a:xfrm>
          <a:prstGeom prst="rect">
            <a:avLst/>
          </a:prstGeom>
          <a:noFill/>
        </p:spPr>
        <p:txBody>
          <a:bodyPr wrap="square" lIns="0" tIns="0" rIns="0" bIns="0">
            <a:spAutoFit/>
          </a:bodyPr>
          <a:lstStyle/>
          <a:p>
            <a:pPr>
              <a:defRPr sz="2200" b="1">
                <a:solidFill>
                  <a:srgbClr val="F8FAFC"/>
                </a:solidFill>
                <a:latin typeface="Arial"/>
              </a:defRPr>
            </a:pPr>
            <a:r>
              <a:rPr sz="2800"/>
              <a:t>Unified One-Screen Evaluator Dashboard (/demo)</a:t>
            </a:r>
            <a:endParaRPr sz="2800"/>
          </a:p>
        </p:txBody>
      </p:sp>
      <p:sp>
        <p:nvSpPr>
          <p:cNvPr id="2086819960" name="Rounded Rectangle 4"/>
          <p:cNvSpPr/>
          <p:nvPr/>
        </p:nvSpPr>
        <p:spPr bwMode="auto">
          <a:xfrm>
            <a:off x="466936" y="1463040"/>
            <a:ext cx="6858000" cy="4754880"/>
          </a:xfrm>
          <a:prstGeom prst="roundRect">
            <a:avLst>
              <a:gd name="adj" fmla="val 16667"/>
            </a:avLst>
          </a:prstGeom>
          <a:solidFill>
            <a:srgbClr val="1F293D"/>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pic>
        <p:nvPicPr>
          <p:cNvPr id="2033541640" name="Picture 5" descr="evaluator_dashboard_screen.png"/>
          <p:cNvPicPr>
            <a:picLocks noChangeAspect="1"/>
          </p:cNvPicPr>
          <p:nvPr/>
        </p:nvPicPr>
        <p:blipFill rotWithShape="1">
          <a:blip r:embed="rId3"/>
          <a:stretch/>
        </p:blipFill>
        <p:spPr bwMode="auto">
          <a:xfrm flipH="0" flipV="0">
            <a:off x="809793" y="1735666"/>
            <a:ext cx="6173365" cy="3986614"/>
          </a:xfrm>
          <a:prstGeom prst="rect">
            <a:avLst/>
          </a:prstGeom>
        </p:spPr>
      </p:pic>
      <p:sp>
        <p:nvSpPr>
          <p:cNvPr id="2093234154" name="TextBox 6"/>
          <p:cNvSpPr txBox="1"/>
          <p:nvPr/>
        </p:nvSpPr>
        <p:spPr bwMode="auto">
          <a:xfrm>
            <a:off x="540088" y="5872395"/>
            <a:ext cx="6712775" cy="167999"/>
          </a:xfrm>
          <a:prstGeom prst="rect">
            <a:avLst/>
          </a:prstGeom>
          <a:noFill/>
        </p:spPr>
        <p:txBody>
          <a:bodyPr wrap="square" lIns="0" tIns="0" rIns="0" bIns="0">
            <a:spAutoFit/>
          </a:bodyPr>
          <a:lstStyle/>
          <a:p>
            <a:pPr algn="ctr">
              <a:defRPr sz="850">
                <a:solidFill>
                  <a:srgbClr val="94A3B8"/>
                </a:solidFill>
                <a:latin typeface="Arial"/>
              </a:defRPr>
            </a:pPr>
            <a:r>
              <a:rPr sz="1100"/>
              <a:t>Standalone Evaluator View: Refrigerator photo, urgency list, rescue recipe, and waste counter</a:t>
            </a:r>
            <a:endParaRPr sz="1100"/>
          </a:p>
        </p:txBody>
      </p:sp>
      <p:sp>
        <p:nvSpPr>
          <p:cNvPr id="1863693953" name="Rounded Rectangle 7"/>
          <p:cNvSpPr/>
          <p:nvPr/>
        </p:nvSpPr>
        <p:spPr bwMode="auto">
          <a:xfrm flipH="0" flipV="0">
            <a:off x="7507816" y="1463040"/>
            <a:ext cx="4156099"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535734178" name="TextBox 8"/>
          <p:cNvSpPr txBox="1"/>
          <p:nvPr/>
        </p:nvSpPr>
        <p:spPr bwMode="auto">
          <a:xfrm flipH="0" flipV="0">
            <a:off x="7683499" y="1681056"/>
            <a:ext cx="3843553" cy="4229890"/>
          </a:xfrm>
          <a:prstGeom prst="rect">
            <a:avLst/>
          </a:prstGeom>
          <a:noFill/>
        </p:spPr>
        <p:txBody>
          <a:bodyPr wrap="square">
            <a:spAutoFit/>
          </a:bodyPr>
          <a:lstStyle/>
          <a:p>
            <a:pPr>
              <a:spcAft>
                <a:spcPts val="1000"/>
              </a:spcAft>
              <a:defRPr sz="1300" b="1">
                <a:solidFill>
                  <a:srgbClr val="3B82F6"/>
                </a:solidFill>
                <a:latin typeface="Arial"/>
              </a:defRPr>
            </a:pPr>
            <a:r>
              <a:rPr sz="1800"/>
              <a:t>EVALUATOR BENCHMARK VIEW</a:t>
            </a:r>
            <a:endParaRPr sz="1800"/>
          </a:p>
          <a:p>
            <a:pPr>
              <a:spcAft>
                <a:spcPts val="800"/>
              </a:spcAft>
              <a:defRPr sz="1000" b="0">
                <a:solidFill>
                  <a:srgbClr val="F8FAFC"/>
                </a:solidFill>
                <a:latin typeface="Arial"/>
              </a:defRPr>
            </a:pPr>
            <a:r>
              <a:rPr sz="1400"/>
              <a:t>Single Evaluation View: Designed specifically for judges and evaluators at /demo/demo_single_screen.html, consolidating all 5 pipeline stages onto one screen.</a:t>
            </a:r>
            <a:endParaRPr sz="1400"/>
          </a:p>
          <a:p>
            <a:pPr>
              <a:spcAft>
                <a:spcPts val="800"/>
              </a:spcAft>
              <a:defRPr sz="1000" b="0">
                <a:solidFill>
                  <a:srgbClr val="F8FAFC"/>
                </a:solidFill>
                <a:latin typeface="Arial"/>
              </a:defRPr>
            </a:pPr>
            <a:r>
              <a:rPr sz="1400"/>
              <a:t>Multi-Tier Urgency Hierarchy: Clearly partitions into 🚨 COOK FIRST (Tomatoes x 4: Softening), ⚠️ USE SOON (Milk: 2 days left), and 🟢 STILL FRESH (Cheese &amp; Eggs x 7).</a:t>
            </a:r>
            <a:endParaRPr sz="1400"/>
          </a:p>
          <a:p>
            <a:pPr>
              <a:spcAft>
                <a:spcPts val="800"/>
              </a:spcAft>
              <a:defRPr sz="1000" b="0">
                <a:solidFill>
                  <a:srgbClr val="F8FAFC"/>
                </a:solidFill>
                <a:latin typeface="Arial"/>
              </a:defRPr>
            </a:pPr>
            <a:r>
              <a:rPr sz="1400"/>
              <a:t>Targeted Rescue Meal: 'Rustic Tomato &amp; Herb Cheese Omelette' (10 mins) rescues the 4 softening tomatoes using ingredients already in the fridge.</a:t>
            </a:r>
            <a:endParaRPr sz="1400"/>
          </a:p>
          <a:p>
            <a:pPr>
              <a:spcAft>
                <a:spcPts val="800"/>
              </a:spcAft>
              <a:defRPr sz="1000" b="0">
                <a:solidFill>
                  <a:srgbClr val="F8FAFC"/>
                </a:solidFill>
                <a:latin typeface="Arial"/>
              </a:defRPr>
            </a:pPr>
            <a:r>
              <a:rPr sz="1400"/>
              <a:t>Measurable Impact Counter: Tracks: 16 items in fridge, 5 needing attention, 5 items saved by tonight's meal.</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7946349" name="Rectangle 1"/>
          <p:cNvSpPr/>
          <p:nvPr/>
        </p:nvSpPr>
        <p:spPr bwMode="auto">
          <a:xfrm>
            <a:off x="0" y="0"/>
            <a:ext cx="12191695" cy="6858000"/>
          </a:xfrm>
          <a:prstGeom prst="rect">
            <a:avLst/>
          </a:prstGeom>
          <a:solidFill>
            <a:srgbClr val="0C1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230765929" name="TextBox 2"/>
          <p:cNvSpPr txBox="1"/>
          <p:nvPr/>
        </p:nvSpPr>
        <p:spPr bwMode="auto">
          <a:xfrm>
            <a:off x="731520" y="365760"/>
            <a:ext cx="10731174" cy="183240"/>
          </a:xfrm>
          <a:prstGeom prst="rect">
            <a:avLst/>
          </a:prstGeom>
          <a:noFill/>
        </p:spPr>
        <p:txBody>
          <a:bodyPr wrap="square" lIns="0" tIns="0" rIns="0" bIns="0">
            <a:spAutoFit/>
          </a:bodyPr>
          <a:lstStyle/>
          <a:p>
            <a:pPr>
              <a:defRPr sz="950" b="1">
                <a:solidFill>
                  <a:srgbClr val="10B981"/>
                </a:solidFill>
                <a:latin typeface="Arial"/>
              </a:defRPr>
            </a:pPr>
            <a:r>
              <a:rPr sz="1200"/>
              <a:t>IBM SKILLSBUILD MASTERCLASS | REAL-LIFE PROJECTS   •   SLIDE 09 / 10</a:t>
            </a:r>
            <a:endParaRPr sz="1200"/>
          </a:p>
        </p:txBody>
      </p:sp>
      <p:sp>
        <p:nvSpPr>
          <p:cNvPr id="1945738935" name="TextBox 3"/>
          <p:cNvSpPr txBox="1"/>
          <p:nvPr/>
        </p:nvSpPr>
        <p:spPr bwMode="auto">
          <a:xfrm>
            <a:off x="731520" y="658368"/>
            <a:ext cx="10730454" cy="427079"/>
          </a:xfrm>
          <a:prstGeom prst="rect">
            <a:avLst/>
          </a:prstGeom>
          <a:noFill/>
        </p:spPr>
        <p:txBody>
          <a:bodyPr wrap="square" lIns="0" tIns="0" rIns="0" bIns="0">
            <a:spAutoFit/>
          </a:bodyPr>
          <a:lstStyle/>
          <a:p>
            <a:pPr>
              <a:defRPr sz="2200" b="1">
                <a:solidFill>
                  <a:srgbClr val="F8FAFC"/>
                </a:solidFill>
                <a:latin typeface="Arial"/>
              </a:defRPr>
            </a:pPr>
            <a:r>
              <a:rPr sz="2800"/>
              <a:t>Inventory Audit Trail &amp; Responsible AI Governance</a:t>
            </a:r>
            <a:endParaRPr sz="2800"/>
          </a:p>
        </p:txBody>
      </p:sp>
      <p:sp>
        <p:nvSpPr>
          <p:cNvPr id="683773853" name="Rounded Rectangle 4"/>
          <p:cNvSpPr/>
          <p:nvPr/>
        </p:nvSpPr>
        <p:spPr bwMode="auto">
          <a:xfrm>
            <a:off x="731520" y="1463040"/>
            <a:ext cx="5120640" cy="2286000"/>
          </a:xfrm>
          <a:prstGeom prst="roundRect">
            <a:avLst>
              <a:gd name="adj" fmla="val 16667"/>
            </a:avLst>
          </a:prstGeom>
          <a:solidFill>
            <a:srgbClr val="1F293D"/>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pic>
        <p:nvPicPr>
          <p:cNvPr id="74560901" name="Picture 5" descr="inventory_screen.png"/>
          <p:cNvPicPr>
            <a:picLocks noChangeAspect="1"/>
          </p:cNvPicPr>
          <p:nvPr/>
        </p:nvPicPr>
        <p:blipFill rotWithShape="1">
          <a:blip r:embed="rId3"/>
          <a:stretch/>
        </p:blipFill>
        <p:spPr bwMode="auto">
          <a:xfrm flipH="0" flipV="0">
            <a:off x="900294" y="1607908"/>
            <a:ext cx="4783091" cy="1793658"/>
          </a:xfrm>
          <a:prstGeom prst="rect">
            <a:avLst/>
          </a:prstGeom>
        </p:spPr>
      </p:pic>
      <p:sp>
        <p:nvSpPr>
          <p:cNvPr id="37774643" name="TextBox 6"/>
          <p:cNvSpPr txBox="1"/>
          <p:nvPr/>
        </p:nvSpPr>
        <p:spPr bwMode="auto">
          <a:xfrm>
            <a:off x="804672" y="3456432"/>
            <a:ext cx="4976135" cy="167999"/>
          </a:xfrm>
          <a:prstGeom prst="rect">
            <a:avLst/>
          </a:prstGeom>
          <a:noFill/>
        </p:spPr>
        <p:txBody>
          <a:bodyPr wrap="square" lIns="0" tIns="0" rIns="0" bIns="0">
            <a:spAutoFit/>
          </a:bodyPr>
          <a:lstStyle/>
          <a:p>
            <a:pPr algn="ctr">
              <a:defRPr sz="850">
                <a:solidFill>
                  <a:srgbClr val="94A3B8"/>
                </a:solidFill>
                <a:latin typeface="Arial"/>
              </a:defRPr>
            </a:pPr>
            <a:r>
              <a:rPr sz="1100"/>
              <a:t>My Fridge Inventory: Dynamic item list &amp; urgency status</a:t>
            </a:r>
            <a:endParaRPr sz="1100"/>
          </a:p>
        </p:txBody>
      </p:sp>
      <p:sp>
        <p:nvSpPr>
          <p:cNvPr id="2033509449" name="Rounded Rectangle 7"/>
          <p:cNvSpPr/>
          <p:nvPr/>
        </p:nvSpPr>
        <p:spPr bwMode="auto">
          <a:xfrm>
            <a:off x="731520" y="3931920"/>
            <a:ext cx="5120640" cy="2286000"/>
          </a:xfrm>
          <a:prstGeom prst="roundRect">
            <a:avLst>
              <a:gd name="adj" fmla="val 16667"/>
            </a:avLst>
          </a:prstGeom>
          <a:solidFill>
            <a:srgbClr val="1F293D"/>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pic>
        <p:nvPicPr>
          <p:cNvPr id="500727853" name="Picture 8" descr="past_scans_screen.png"/>
          <p:cNvPicPr>
            <a:picLocks noChangeAspect="1"/>
          </p:cNvPicPr>
          <p:nvPr/>
        </p:nvPicPr>
        <p:blipFill rotWithShape="1">
          <a:blip r:embed="rId4"/>
          <a:stretch/>
        </p:blipFill>
        <p:spPr bwMode="auto">
          <a:xfrm flipH="0" flipV="0">
            <a:off x="900294" y="4076788"/>
            <a:ext cx="4783091" cy="1793658"/>
          </a:xfrm>
          <a:prstGeom prst="rect">
            <a:avLst/>
          </a:prstGeom>
        </p:spPr>
      </p:pic>
      <p:sp>
        <p:nvSpPr>
          <p:cNvPr id="167738867" name="TextBox 9"/>
          <p:cNvSpPr txBox="1"/>
          <p:nvPr/>
        </p:nvSpPr>
        <p:spPr bwMode="auto">
          <a:xfrm>
            <a:off x="804672" y="5925312"/>
            <a:ext cx="4976135" cy="167999"/>
          </a:xfrm>
          <a:prstGeom prst="rect">
            <a:avLst/>
          </a:prstGeom>
          <a:noFill/>
        </p:spPr>
        <p:txBody>
          <a:bodyPr wrap="square" lIns="0" tIns="0" rIns="0" bIns="0">
            <a:spAutoFit/>
          </a:bodyPr>
          <a:lstStyle/>
          <a:p>
            <a:pPr algn="ctr">
              <a:defRPr sz="850">
                <a:solidFill>
                  <a:srgbClr val="94A3B8"/>
                </a:solidFill>
                <a:latin typeface="Arial"/>
              </a:defRPr>
            </a:pPr>
            <a:r>
              <a:rPr sz="1100"/>
              <a:t>Past Fridge Scans: SQLite historical audit trail</a:t>
            </a:r>
            <a:endParaRPr sz="1100"/>
          </a:p>
        </p:txBody>
      </p:sp>
      <p:sp>
        <p:nvSpPr>
          <p:cNvPr id="1187963409" name="Rounded Rectangle 10"/>
          <p:cNvSpPr/>
          <p:nvPr/>
        </p:nvSpPr>
        <p:spPr bwMode="auto">
          <a:xfrm>
            <a:off x="6217920" y="1463040"/>
            <a:ext cx="5608015" cy="4754880"/>
          </a:xfrm>
          <a:prstGeom prst="roundRect">
            <a:avLst>
              <a:gd name="adj" fmla="val 16667"/>
            </a:avLst>
          </a:prstGeom>
          <a:solidFill>
            <a:srgbClr val="161E2E"/>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213185078" name="TextBox 11"/>
          <p:cNvSpPr txBox="1"/>
          <p:nvPr/>
        </p:nvSpPr>
        <p:spPr bwMode="auto">
          <a:xfrm>
            <a:off x="6492240" y="1797473"/>
            <a:ext cx="5061174" cy="3972919"/>
          </a:xfrm>
          <a:prstGeom prst="rect">
            <a:avLst/>
          </a:prstGeom>
          <a:noFill/>
        </p:spPr>
        <p:txBody>
          <a:bodyPr wrap="square">
            <a:spAutoFit/>
          </a:bodyPr>
          <a:lstStyle/>
          <a:p>
            <a:pPr>
              <a:spcAft>
                <a:spcPts val="800"/>
              </a:spcAft>
              <a:defRPr sz="1300" b="1">
                <a:solidFill>
                  <a:srgbClr val="F43F5E"/>
                </a:solidFill>
                <a:latin typeface="Arial"/>
              </a:defRPr>
            </a:pPr>
            <a:r>
              <a:rPr sz="1800"/>
              <a:t>RESPONSIBLE AI GOVERNANCE &amp; SAFETY</a:t>
            </a:r>
            <a:endParaRPr sz="1800"/>
          </a:p>
          <a:p>
            <a:pPr>
              <a:spcAft>
                <a:spcPts val="800"/>
              </a:spcAft>
              <a:defRPr sz="1000" b="0">
                <a:solidFill>
                  <a:srgbClr val="F8FAFC"/>
                </a:solidFill>
                <a:latin typeface="Arial"/>
              </a:defRPr>
            </a:pPr>
            <a:r>
              <a:rPr sz="1400"/>
              <a:t>Mandatory Food Safety Disclaimer: "Fridge Rescue provides AI-assisted food-waste guidance, NOT a microbiological food-safety guarantee. Image classification cannot detect bacterial pathogens (Salmonella, E. coli) or internal rot. Always inspect aroma, packaging dates, and texture before consuming."</a:t>
            </a:r>
            <a:endParaRPr sz="1400"/>
          </a:p>
          <a:p>
            <a:pPr>
              <a:spcAft>
                <a:spcPts val="800"/>
              </a:spcAft>
              <a:defRPr sz="1000" b="0">
                <a:solidFill>
                  <a:srgbClr val="F8FAFC"/>
                </a:solidFill>
                <a:latin typeface="Arial"/>
              </a:defRPr>
            </a:pPr>
            <a:r>
              <a:rPr sz="1400"/>
              <a:t>Honest Scoping (Zero Hallucination): Produce freshness is strictly constrained to the 6 validated classes. Dairy, meats, and condiments explicitly report 'assessment unavailable' rather than guessing.</a:t>
            </a:r>
            <a:endParaRPr sz="1400"/>
          </a:p>
          <a:p>
            <a:pPr>
              <a:spcAft>
                <a:spcPts val="800"/>
              </a:spcAft>
              <a:defRPr sz="1000" b="0">
                <a:solidFill>
                  <a:srgbClr val="F8FAFC"/>
                </a:solidFill>
                <a:latin typeface="Arial"/>
              </a:defRPr>
            </a:pPr>
            <a:r>
              <a:rPr sz="1400"/>
              <a:t>Human-in-the-Loop Audit Trail: Users can adjust quantities (+/-) or enter custom dates via modal; stored in SQLite with user_adjusted=1 flag.</a:t>
            </a:r>
            <a:endParaRPr sz="1400"/>
          </a:p>
          <a:p>
            <a:pPr>
              <a:spcAft>
                <a:spcPts val="800"/>
              </a:spcAft>
              <a:defRPr sz="1000" b="0">
                <a:solidFill>
                  <a:srgbClr val="F8FAFC"/>
                </a:solidFill>
                <a:latin typeface="Arial"/>
              </a:defRPr>
            </a:pPr>
            <a:r>
              <a:rPr sz="1400"/>
              <a:t>OCR Glare Resilience: Packaging specular reflections gracefully trigger prompts for user manual confirmation instead of crashing.</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5472886" name="Rectangle 1"/>
          <p:cNvSpPr/>
          <p:nvPr/>
        </p:nvSpPr>
        <p:spPr bwMode="auto">
          <a:xfrm>
            <a:off x="0" y="0"/>
            <a:ext cx="12191695" cy="6858000"/>
          </a:xfrm>
          <a:prstGeom prst="rect">
            <a:avLst/>
          </a:prstGeom>
          <a:solidFill>
            <a:srgbClr val="0C1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643362292" name="TextBox 2"/>
          <p:cNvSpPr txBox="1"/>
          <p:nvPr/>
        </p:nvSpPr>
        <p:spPr bwMode="auto">
          <a:xfrm>
            <a:off x="731520" y="365760"/>
            <a:ext cx="10731174" cy="183240"/>
          </a:xfrm>
          <a:prstGeom prst="rect">
            <a:avLst/>
          </a:prstGeom>
          <a:noFill/>
        </p:spPr>
        <p:txBody>
          <a:bodyPr wrap="square" lIns="0" tIns="0" rIns="0" bIns="0">
            <a:spAutoFit/>
          </a:bodyPr>
          <a:lstStyle/>
          <a:p>
            <a:pPr>
              <a:defRPr sz="950" b="1">
                <a:solidFill>
                  <a:srgbClr val="10B981"/>
                </a:solidFill>
                <a:latin typeface="Arial"/>
              </a:defRPr>
            </a:pPr>
            <a:r>
              <a:rPr sz="1200"/>
              <a:t>IBM SKILLSBUILD MASTERCLASS | REAL-LIFE PROJECTS   •   SLIDE 10 / 10</a:t>
            </a:r>
            <a:endParaRPr sz="1200"/>
          </a:p>
        </p:txBody>
      </p:sp>
      <p:sp>
        <p:nvSpPr>
          <p:cNvPr id="2013683163" name="TextBox 3"/>
          <p:cNvSpPr txBox="1"/>
          <p:nvPr/>
        </p:nvSpPr>
        <p:spPr bwMode="auto">
          <a:xfrm>
            <a:off x="731520" y="658368"/>
            <a:ext cx="10730454" cy="427079"/>
          </a:xfrm>
          <a:prstGeom prst="rect">
            <a:avLst/>
          </a:prstGeom>
          <a:noFill/>
        </p:spPr>
        <p:txBody>
          <a:bodyPr wrap="square" lIns="0" tIns="0" rIns="0" bIns="0">
            <a:spAutoFit/>
          </a:bodyPr>
          <a:lstStyle/>
          <a:p>
            <a:pPr>
              <a:defRPr sz="2200" b="1">
                <a:solidFill>
                  <a:srgbClr val="F8FAFC"/>
                </a:solidFill>
                <a:latin typeface="Arial"/>
              </a:defRPr>
            </a:pPr>
            <a:r>
              <a:rPr sz="2800"/>
              <a:t>Business Feasibility, Measurable Impact &amp; Roadmap</a:t>
            </a:r>
            <a:endParaRPr sz="2800"/>
          </a:p>
        </p:txBody>
      </p:sp>
      <p:sp>
        <p:nvSpPr>
          <p:cNvPr id="1853674836" name="Rounded Rectangle 4"/>
          <p:cNvSpPr/>
          <p:nvPr/>
        </p:nvSpPr>
        <p:spPr bwMode="auto">
          <a:xfrm>
            <a:off x="731520" y="1463040"/>
            <a:ext cx="3328416"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739946045" name="Rectangle 5"/>
          <p:cNvSpPr/>
          <p:nvPr/>
        </p:nvSpPr>
        <p:spPr bwMode="auto">
          <a:xfrm>
            <a:off x="731520" y="1463040"/>
            <a:ext cx="3328416"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057598585" name="TextBox 6"/>
          <p:cNvSpPr txBox="1"/>
          <p:nvPr/>
        </p:nvSpPr>
        <p:spPr bwMode="auto">
          <a:xfrm>
            <a:off x="914400" y="1645920"/>
            <a:ext cx="2964456" cy="3772444"/>
          </a:xfrm>
          <a:prstGeom prst="rect">
            <a:avLst/>
          </a:prstGeom>
          <a:noFill/>
        </p:spPr>
        <p:txBody>
          <a:bodyPr wrap="square">
            <a:spAutoFit/>
          </a:bodyPr>
          <a:lstStyle/>
          <a:p>
            <a:pPr>
              <a:spcAft>
                <a:spcPts val="1200"/>
              </a:spcAft>
              <a:defRPr sz="1200" b="1">
                <a:solidFill>
                  <a:srgbClr val="14B8A6"/>
                </a:solidFill>
                <a:latin typeface="Arial"/>
              </a:defRPr>
            </a:pPr>
            <a:r>
              <a:rPr sz="1800"/>
              <a:t>💰 UNIT ECONOMICS &amp; REVENUE</a:t>
            </a:r>
            <a:endParaRPr sz="1800"/>
          </a:p>
          <a:p>
            <a:pPr>
              <a:spcAft>
                <a:spcPts val="600"/>
              </a:spcAft>
              <a:defRPr sz="950" b="0">
                <a:solidFill>
                  <a:srgbClr val="F8FAFC"/>
                </a:solidFill>
                <a:latin typeface="Arial"/>
              </a:defRPr>
            </a:pPr>
            <a:r>
              <a:rPr sz="1200"/>
              <a:t>Lightweight Inference: YOLO11n + MobileNetV3 run on standard CPUs/servers at ~$0.0018 per scan. Local recipe database eliminates ongoing LLM token fees.</a:t>
            </a:r>
            <a:endParaRPr sz="1200"/>
          </a:p>
          <a:p>
            <a:pPr>
              <a:spcAft>
                <a:spcPts val="600"/>
              </a:spcAft>
              <a:defRPr sz="950" b="0">
                <a:solidFill>
                  <a:srgbClr val="F8FAFC"/>
                </a:solidFill>
                <a:latin typeface="Arial"/>
              </a:defRPr>
            </a:pPr>
            <a:r>
              <a:rPr sz="1200"/>
              <a:t>Freemium Pro ($3.99/mo): Unlocks push expiry notifications, weekly meal prep planners, and family fridge syncing.</a:t>
            </a:r>
            <a:endParaRPr sz="1200"/>
          </a:p>
          <a:p>
            <a:pPr>
              <a:spcAft>
                <a:spcPts val="600"/>
              </a:spcAft>
              <a:defRPr sz="950" b="0">
                <a:solidFill>
                  <a:srgbClr val="F8FAFC"/>
                </a:solidFill>
                <a:latin typeface="Arial"/>
              </a:defRPr>
            </a:pPr>
            <a:r>
              <a:rPr sz="1200"/>
              <a:t>Grocery Affiliate (2–5%): 1-click cart fulfillment on Instacart / Blinkit when recipes need a missing staple (e.g., eggs).</a:t>
            </a:r>
            <a:endParaRPr sz="1200"/>
          </a:p>
          <a:p>
            <a:pPr>
              <a:spcAft>
                <a:spcPts val="600"/>
              </a:spcAft>
              <a:defRPr sz="950" b="0">
                <a:solidFill>
                  <a:srgbClr val="F8FAFC"/>
                </a:solidFill>
                <a:latin typeface="Arial"/>
              </a:defRPr>
            </a:pPr>
            <a:r>
              <a:rPr sz="1200"/>
              <a:t>B2B Appliance API: Licensing detection models to refrigerator brands (Haier, Whirlpool, LG).</a:t>
            </a:r>
            <a:endParaRPr sz="1200"/>
          </a:p>
        </p:txBody>
      </p:sp>
      <p:sp>
        <p:nvSpPr>
          <p:cNvPr id="1740888798" name="Rounded Rectangle 7"/>
          <p:cNvSpPr/>
          <p:nvPr/>
        </p:nvSpPr>
        <p:spPr bwMode="auto">
          <a:xfrm>
            <a:off x="4425696" y="1463040"/>
            <a:ext cx="3328416"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067305843" name="Rectangle 8"/>
          <p:cNvSpPr/>
          <p:nvPr/>
        </p:nvSpPr>
        <p:spPr bwMode="auto">
          <a:xfrm>
            <a:off x="4425696" y="1463040"/>
            <a:ext cx="3328416"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698968258" name="TextBox 9"/>
          <p:cNvSpPr txBox="1"/>
          <p:nvPr/>
        </p:nvSpPr>
        <p:spPr bwMode="auto">
          <a:xfrm>
            <a:off x="4608576" y="1645920"/>
            <a:ext cx="2964456" cy="3406684"/>
          </a:xfrm>
          <a:prstGeom prst="rect">
            <a:avLst/>
          </a:prstGeom>
          <a:noFill/>
        </p:spPr>
        <p:txBody>
          <a:bodyPr wrap="square">
            <a:spAutoFit/>
          </a:bodyPr>
          <a:lstStyle/>
          <a:p>
            <a:pPr>
              <a:spcAft>
                <a:spcPts val="1200"/>
              </a:spcAft>
              <a:defRPr sz="1200" b="1">
                <a:solidFill>
                  <a:srgbClr val="10B981"/>
                </a:solidFill>
                <a:latin typeface="Arial"/>
              </a:defRPr>
            </a:pPr>
            <a:r>
              <a:rPr sz="1800"/>
              <a:t>🌍 MEASURABLE SDG IMPACT</a:t>
            </a:r>
            <a:endParaRPr sz="1800"/>
          </a:p>
          <a:p>
            <a:pPr>
              <a:spcAft>
                <a:spcPts val="600"/>
              </a:spcAft>
              <a:defRPr sz="950" b="0">
                <a:solidFill>
                  <a:srgbClr val="F8FAFC"/>
                </a:solidFill>
                <a:latin typeface="Arial"/>
              </a:defRPr>
            </a:pPr>
            <a:r>
              <a:rPr sz="1200"/>
              <a:t>Household Economic ROI: Saves $35 to $50 per family per month ($400–$600/year) on discarded groceries.</a:t>
            </a:r>
            <a:endParaRPr sz="1200"/>
          </a:p>
          <a:p>
            <a:pPr>
              <a:spcAft>
                <a:spcPts val="600"/>
              </a:spcAft>
              <a:defRPr sz="950" b="0">
                <a:solidFill>
                  <a:srgbClr val="F8FAFC"/>
                </a:solidFill>
                <a:latin typeface="Arial"/>
              </a:defRPr>
            </a:pPr>
            <a:r>
              <a:rPr sz="1200"/>
              <a:t>Landfill Diversion: Diverts 8 to 12 kg of organic food waste per household per month, directly preventing anaerobic methane generation under UN SDG 12.3.</a:t>
            </a:r>
            <a:endParaRPr sz="1200"/>
          </a:p>
          <a:p>
            <a:pPr>
              <a:spcAft>
                <a:spcPts val="600"/>
              </a:spcAft>
              <a:defRPr sz="950" b="0">
                <a:solidFill>
                  <a:srgbClr val="F8FAFC"/>
                </a:solidFill>
                <a:latin typeface="Arial"/>
              </a:defRPr>
            </a:pPr>
            <a:r>
              <a:rPr sz="1200"/>
              <a:t>Activation KPI: &gt;65% of signups scan their fridge within 24 hours.</a:t>
            </a:r>
            <a:endParaRPr sz="1200"/>
          </a:p>
          <a:p>
            <a:pPr>
              <a:spcAft>
                <a:spcPts val="600"/>
              </a:spcAft>
              <a:defRPr sz="950" b="0">
                <a:solidFill>
                  <a:srgbClr val="F8FAFC"/>
                </a:solidFill>
                <a:latin typeface="Arial"/>
              </a:defRPr>
            </a:pPr>
            <a:r>
              <a:rPr sz="1200"/>
              <a:t>Rescue Rate KPI: &gt;40% of items marked 'RESCUE NOW' clicked as cooked.</a:t>
            </a:r>
            <a:endParaRPr sz="1200"/>
          </a:p>
        </p:txBody>
      </p:sp>
      <p:sp>
        <p:nvSpPr>
          <p:cNvPr id="1890968003" name="Rounded Rectangle 10"/>
          <p:cNvSpPr/>
          <p:nvPr/>
        </p:nvSpPr>
        <p:spPr bwMode="auto">
          <a:xfrm>
            <a:off x="8119872" y="1463040"/>
            <a:ext cx="3328416" cy="4754880"/>
          </a:xfrm>
          <a:prstGeom prst="roundRect">
            <a:avLst>
              <a:gd name="adj" fmla="val 16667"/>
            </a:avLst>
          </a:prstGeom>
          <a:solidFill>
            <a:srgbClr val="161E2E"/>
          </a:solidFill>
          <a:ln w="12700">
            <a:solidFill>
              <a:srgbClr val="2D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168868001" name="Rectangle 11"/>
          <p:cNvSpPr/>
          <p:nvPr/>
        </p:nvSpPr>
        <p:spPr bwMode="auto">
          <a:xfrm>
            <a:off x="8119872" y="1463040"/>
            <a:ext cx="3328416"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2400"/>
          </a:p>
        </p:txBody>
      </p:sp>
      <p:sp>
        <p:nvSpPr>
          <p:cNvPr id="829460793" name="TextBox 12"/>
          <p:cNvSpPr txBox="1"/>
          <p:nvPr/>
        </p:nvSpPr>
        <p:spPr bwMode="auto">
          <a:xfrm>
            <a:off x="8302752" y="1645920"/>
            <a:ext cx="2964456" cy="3330484"/>
          </a:xfrm>
          <a:prstGeom prst="rect">
            <a:avLst/>
          </a:prstGeom>
          <a:noFill/>
        </p:spPr>
        <p:txBody>
          <a:bodyPr wrap="square">
            <a:spAutoFit/>
          </a:bodyPr>
          <a:lstStyle/>
          <a:p>
            <a:pPr>
              <a:spcAft>
                <a:spcPts val="1200"/>
              </a:spcAft>
              <a:defRPr sz="1200" b="1">
                <a:solidFill>
                  <a:srgbClr val="3B82F6"/>
                </a:solidFill>
                <a:latin typeface="Arial"/>
              </a:defRPr>
            </a:pPr>
            <a:r>
              <a:rPr sz="1800"/>
              <a:t>🚀 ROADMAP &amp; NEXT STEPS</a:t>
            </a:r>
            <a:endParaRPr sz="1800"/>
          </a:p>
          <a:p>
            <a:pPr>
              <a:spcAft>
                <a:spcPts val="600"/>
              </a:spcAft>
              <a:defRPr sz="950" b="0">
                <a:solidFill>
                  <a:srgbClr val="F8FAFC"/>
                </a:solidFill>
                <a:latin typeface="Arial"/>
              </a:defRPr>
            </a:pPr>
            <a:r>
              <a:rPr sz="1200"/>
              <a:t>Phase 1 (Completed): Working prototype, YOLO11n (93.1% precision), MobileNetV3 (99.93% accuracy), FastAPI backend, SQLite history, evaluator demo.</a:t>
            </a:r>
            <a:endParaRPr sz="1200"/>
          </a:p>
          <a:p>
            <a:pPr>
              <a:spcAft>
                <a:spcPts val="600"/>
              </a:spcAft>
              <a:defRPr sz="950" b="0">
                <a:solidFill>
                  <a:srgbClr val="F8FAFC"/>
                </a:solidFill>
                <a:latin typeface="Arial"/>
              </a:defRPr>
            </a:pPr>
            <a:r>
              <a:rPr sz="1200"/>
              <a:t>Phase 2 (Months 1–3): Progressive Web App (PWA) with push alerts, ONNX Runtime edge inference on mobile devices, pilot across 2 university dorms.</a:t>
            </a:r>
            <a:endParaRPr sz="1200"/>
          </a:p>
          <a:p>
            <a:pPr>
              <a:spcAft>
                <a:spcPts val="600"/>
              </a:spcAft>
              <a:defRPr sz="950" b="0">
                <a:solidFill>
                  <a:srgbClr val="F8FAFC"/>
                </a:solidFill>
                <a:latin typeface="Arial"/>
              </a:defRPr>
            </a:pPr>
            <a:r>
              <a:rPr sz="1200"/>
              <a:t>Phase 3 (Months 4–6): Quick-commerce delivery integration, multi-language localization, municipal waste diversion partnership.</a:t>
            </a: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10</Slides>
  <Notes>10</Notes>
  <HiddenSlides>0</HiddenSlides>
  <MMClips>2</MMClips>
  <ScaleCrop>0</ScaleCrop>
  <HeadingPairs>
    <vt:vector size="4" baseType="variant">
      <vt:variant>
        <vt:lpstr>Theme</vt:lpstr>
      </vt:variant>
      <vt:variant>
        <vt:i4>1</vt:i4>
      </vt:variant>
      <vt:variant>
        <vt:lpstr>Slide Titles</vt:lpstr>
      </vt:variant>
      <vt:variant>
        <vt:i4>10</vt:i4>
      </vt:variant>
    </vt:vector>
  </HeadingPairs>
  <TitlesOfParts>
    <vt:vector size="11" baseType="lpstr">
      <vt:lpstr>Theme 1</vt:lpstr>
      <vt:lpstr>Slide 1</vt:lpstr>
      <vt:lpstr>Slide 2</vt:lpstr>
      <vt:lpstr>Slide 3</vt:lpstr>
      <vt:lpstr>Slide 4</vt:lpstr>
      <vt:lpstr>Slide 5</vt:lpstr>
      <vt:lpstr>Slide 6</vt:lpstr>
      <vt:lpstr>Slide 7</vt:lpstr>
      <vt:lpstr>Slide 8</vt:lpstr>
      <vt:lpstr>Slide 9</vt:lpstr>
      <vt:lpstr>Slide 10</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2</cp:revision>
  <dcterms:created xsi:type="dcterms:W3CDTF">2013-01-27T09:14:16Z</dcterms:created>
  <dcterms:modified xsi:type="dcterms:W3CDTF">2026-10-07T14:37:10Z</dcterms:modified>
  <cp:category/>
</cp:coreProperties>
</file>